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o I am" id="{d2f60063-49a6-41e6-0e04-a2df7725f89c}">
          <p14:sldIdLst>
            <p14:sldId id="256"/>
          </p14:sldIdLst>
        </p14:section>
        <p14:section name="Customer experience" id="{791f7d15-872e-e31d-cb01-9f9e326581fb}">
          <p14:sldIdLst>
            <p14:sldId id="257"/>
            <p14:sldId id="258"/>
          </p14:sldIdLst>
        </p14:section>
        <p14:section name="Technical experience" id="{d96fe164-74f8-3c73-3aa2-c1e2d9a0f893}">
          <p14:sldIdLst>
            <p14:sldId id="259"/>
            <p14:sldId id="260"/>
          </p14:sldIdLst>
        </p14:section>
        <p14:section name="Why me, and the first 90 days" id="{cec3b4ee-4a19-33d9-831d-681f9f9dbdda}">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"I'm a hands-on AIOps and Observability practitioner. I started as a software engineer at Cap Gemini and Computer Associates, building expert systems, which was AI before it was mainstream. After a few years consulting on data management, I spent 16 years at CA, then Broadcom, as the lead technical architect on Fortune 500 accounts: about four years presales, then twelve focused on adoption and value realization.
The three numbers are what I'm proudest of. $40M+ is account-team ELA revenue where I was the lead architect, not a personal quota. For the last year I've been building agentic AIOps hands-on, which is why Edwin AI and Autonomous IT drew me to LogicMonitor.
Today: one customer story, the architecture behind it, the hands-on work I did on your platform, why I fit this role, and my first 90 days. Then I'll show you the environment I built and monitored with LogicMonitor."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for this slide and the next together.
"The engagement I want to walk you through ran for over two years at a Fortune 500 electric utility with millions of customers across several states. They were running Dynatrace for applications and SolarWinds for servers and databases. They were also a big user of our network monitoring, DX NetOps, especially for SD-WAN, which gave me a strong foothold at the customer. The business wanted to consolidate tools and lower cost, get broader coverage across network, infrastructure and legacy systems, and above all keep outage reporting reliable during hurricane season, when customers depend on it most.
I was the technical lead from evaluation through implementation. I worked hand in hand with the customer's outsourced monitoring team, six consultants, two in the U.S. and four in India, who owned every monitoring tool, including the Dynatrace we were replacing. I enabled them on the new platform, and every Friday I ran an enablement session open to anyone in the company, so adoption didn't depend on one team. I worked across the TIBCO BusinessWorks and EMS team, the Java team, the system admins and the DBAs to instrument their stacks, and I presented the solution architecture to the customer's Architecture Review Board for approval, more than once.
Three kinds of risk. Technical: 5,000+ agents to migrate across application, infrastructure and network. Political: I was leading the displacement of a tool that teams had built their workflows around. The pushback came from the TIBCO team. BusinessWorks is thread-intensive, and they were used to seeing every JVM thread and its state, running, blocked or waiting, in Dynatrace. DX didn't have that view. Timing: change freezes during hurricane season limit when you can cut anything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"It started with the PoC. A typical PoC runs a week; this one ran two months, because every team was judging the new platform against a tool it already knew: TIBCO and Java against Dynatrace, the system admins and DBAs against SolarWinds. So I ran it as a separate PoC for each team. As each team joined, I added its objectives and success criteria, and the stakeholders and expectations grew with them. It cost time up front, but every team was satisfied before we migrated anything, so nobody was surprised later.
I ruled out a big-bang swap. I planned the migration in waves, ran both tools in parallel so nobody lost visibility, and I only signed off a wave once it reached parity on the alerts and dashboards that mattered. Nothing was left behind: everything migrated over the two years, with Dynatrace and SolarWinds running in parallel until the last wave.
The hardest gap was that thread view for TIBCO. I built an interim: I automated thread dumps with kill -3 and jcmd Thread.print and turned them into the same running, blocked and waiting picture. That bought time until our product team shipped the feature, within two releases, and I got the TIBCO team, the ones who'd pushed back, to work with us as a design partner and beta-test it.
One wave did break. In the lower environment the Java agent looked great, but the monitoring team had set its profile to High for maximum visibility, where best practice is Medium. High instruments things like socket I/O that you rarely need, and under production load the bytecode instrumentation overhead hurt application performance. The JVM team removed the agent straight away, which was the right call. I ran benchmark tests and recommended restarting on the Low profile, with less visibility, to rebuild trust; once the team was comfortable, I moved them to Medium, which gives the best balance of visibility and overhead.
The whole time I was also the technical owner for 14 other accounts. I could do that because I shared the implementation: I stayed the sole lead technical engineer, but the customer's monitoring team and its platform teams each carried the rollout for their own stack. Inside Broadcom we were a team of eight consultants, and we covered for each other: others picked up some of my tasks when I was stretched, and I did the same for them.
The result: I retired three tools, Dynatrace, SolarWinds and Hyperping for synthetics, cutting their observability tooling cost by 40%. I'll be honest, cost was the most appealing factor for them, and rolling it into an Enterprise License Agreement gave us a lot of leverage. But the bigger change was how they used it. They had used those tools purely for monitoring; I took them to higher-level use cases, more AIOps than they had before, service observability, SLIs and SLOs. That's what won the business stakeholders and the executives, and it drove both the sale and the adoption."
Then: "Happy to go deeper on any part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Left to right: what I scoped, how it was collected, where it was correlated, who acted on it.
"I designed this target architecture. I prioritised the customer-facing apps, because outage reporting is what customers see during a storm: the outage map and reporting, the customer portal, billing and payments, and the mobile app. Behind them sit the internal systems those apps depend on: the customer information system, outage management, GIS, meter data from the smart meters, and work and asset management, with TIBCO integrating many of them. A slow billing page is often a slow CIS call, so I monitored both sides. I put DX APM on those apps, UIM across the data centers and NetOps on fault isolation across the network, and I extended coverage to Kubernetes and AWS. I fed everything into DX Operational Observability for topology, correlation and service views, then into the NOC, ITSM and executive dashboards."
Bottom row: "In LogicMonitor terms, hubs and robots become Collector groups, probes become LogicModules driven by AppliesTo, NetOps fault isolation becomes topology and alert dependencies, and alarm correlation becomes Edwin AI. That's the mapping I'd use for a customer moving off UIM or DX."
Trade-offs, if asked: agent vs agentless in restricted zones, polling intervals, SNMPv3 vs v2c, data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then switch to the demo.
"I built a small version of the service from my customer story, a utility's outage-reporting site, from a blank AWS account, and I monitored it in LogicMonitor end to end. I deployed the VM and app from code, installed a Collector, connected AWS with a read-only role, and wrote a Groovy DataSource that turns the app's health into technical and business metrics.
The same environment serves two audiences, so I built two dashboards. An executive asks about outcomes and risk: can customers report an outage, how many are without power, and how long are they waiting for an estimate. An engineer asks what's broken, where, and who has the ticket: latency, errors, the JVM, the OS, the logs, and alerts routed to on-call with one alert per cause.
Let me show you, starting with the executive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60–75 seconds.
"Three reasons. Customer outcomes: post-sale adoption and expansion has been my job for twelve years, and my measures were technical wins, adoption and renewals. Observability depth: many of LogicMonitor's new customers are migrating off the tools I spent sixteen years with, so I know where the problems hide in those migrations. And agentic AI: for the past year I've been building multi-agent AIOps hands-on, with governance controls, which is the closed-loop direction of Edwin AI and Autonomous IT.
On the right is the role as posted. I've done each of these, and I'm happy to go deeper on any row."
Detail for any row: POCs (success criteria written up front), technical advisory (the migration mapping on slide 4), feedback to product (turning field input into Scout AI's product strategy), training (the global developer culture program I founded).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"First 30 days I'm learning: certifications, Edwin AI, shadowing your senior CTAs, and meeting every account I'm given so I have a health and KPI baseline. Days 31 to 60 I own the day-to-day technical relationships, agree a success plan with measurable KPIs on each account, land quick wins like critical services monitored and noise tuned, and run my first best-practices workshop. By 90 days I'm running value reviews with customer leadership, running POCs of new features with customers, starting with Edwin AI, feeding what I hear into the PDE roadmap, and I've shared something reusable with the team. A DX or UIM migration playbook is the obvious one for me."
Then ask: "What would you want to see from me at 90 days?"
Transition: "Let me show you what I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66928"/>
            <a:ext cx="10565892" cy="292608"/>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812902" y="868680"/>
            <a:ext cx="10565892" cy="9601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Footer"/>
          <p:cNvSpPr txBox="1"/>
          <p:nvPr/>
        </p:nvSpPr>
        <p:spPr>
          <a:xfrm>
            <a:off x="812902" y="6355080"/>
            <a:ext cx="7315200" cy="274320"/>
          </a:xfrm>
          <a:prstGeom prst="rect">
            <a:avLst/>
          </a:prstGeom>
          <a:noFill/>
          <a:ln/>
        </p:spPr>
        <p:txBody>
          <a:bodyPr wrap="square" lIns="0" tIns="0" rIns="0" bIns="0" rtlCol="0" anchor="ctr"/>
          <a:lstStyle/>
          <a:p>
            <a:pPr indent="0" marL="0">
              <a:buNone/>
            </a:pPr>
            <a:r>
              <a:rPr lang="en-US" sz="1100" dirty="0">
                <a:solidFill>
                  <a:schemeClr val="accent5"/>
                </a:solidFill>
              </a:rPr>
              <a:t>Dennis Katumalla · Sr. Customer Technical Architect</a:t>
            </a:r>
            <a:endParaRPr lang="en-US" sz="11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66928"/>
            <a:ext cx="10565892" cy="292608"/>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868680"/>
            <a:ext cx="10565892" cy="960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Footer"/>
          <p:cNvSpPr txBox="1"/>
          <p:nvPr/>
        </p:nvSpPr>
        <p:spPr>
          <a:xfrm>
            <a:off x="812902" y="6355080"/>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Dennis Katumalla · Sr. Customer Technical Architect</a:t>
            </a:r>
            <a:endParaRPr lang="en-US" sz="11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566928"/>
            <a:ext cx="10565892" cy="292608"/>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896112"/>
            <a:ext cx="10565892" cy="7772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SR. CUSTOMER TECHNICAL ARCHITECT</a:t>
            </a:r>
            <a:endParaRPr lang="en-US" sz="1200" dirty="0"/>
          </a:p>
        </p:txBody>
      </p:sp>
      <p:sp>
        <p:nvSpPr>
          <p:cNvPr id="4" name="Text 0"/>
          <p:cNvSpPr/>
          <p:nvPr>
            <p:ph idx="101" type="title" hasCustomPrompt="1"/>
          </p:nvPr>
        </p:nvSpPr>
        <p:spPr>
          <a:xfrm>
            <a:off x="812902" y="896112"/>
            <a:ext cx="10565892" cy="777240"/>
          </a:xfrm>
          <a:prstGeom prst="rect">
            <a:avLst/>
          </a:prstGeom>
          <a:noFill/>
          <a:ln/>
        </p:spPr>
        <p:txBody>
          <a:bodyPr wrap="square" lIns="0" tIns="0" rIns="0" bIns="0" rtlCol="0" anchor="t"/>
          <a:lstStyle/>
          <a:p>
            <a:pPr algn="l" indent="0" marL="0">
              <a:buNone/>
            </a:pPr>
            <a:r>
              <a:rPr lang="en-US" sz="4800" b="1" dirty="0">
                <a:solidFill>
                  <a:schemeClr val="bg1"/>
                </a:solidFill>
              </a:rPr>
              <a:t>Dennis Katumalla</a:t>
            </a:r>
            <a:endParaRPr lang="en-US" sz="4800" dirty="0"/>
          </a:p>
        </p:txBody>
      </p:sp>
      <p:sp>
        <p:nvSpPr>
          <p:cNvPr id="5" name="Positioning"/>
          <p:cNvSpPr txBox="1"/>
          <p:nvPr/>
        </p:nvSpPr>
        <p:spPr>
          <a:xfrm>
            <a:off x="812902" y="1783080"/>
            <a:ext cx="9326880" cy="1097280"/>
          </a:xfrm>
          <a:prstGeom prst="rect">
            <a:avLst/>
          </a:prstGeom>
          <a:noFill/>
          <a:ln/>
        </p:spPr>
        <p:txBody>
          <a:bodyPr wrap="square" lIns="0" tIns="0" rIns="0" bIns="0" rtlCol="0" anchor="t"/>
          <a:lstStyle/>
          <a:p>
            <a:pPr indent="0" marL="0">
              <a:spcAft>
                <a:spcPts val="800"/>
              </a:spcAft>
              <a:buNone/>
            </a:pPr>
            <a:r>
              <a:rPr lang="en-US" sz="2000" dirty="0">
                <a:solidFill>
                  <a:schemeClr val="accent4"/>
                </a:solidFill>
              </a:rPr>
              <a:t>Hands-on AIOps and Observability architect. 16 years making enterprise monitoring deliver measurable outcomes for Fortune 500 customers.</a:t>
            </a:r>
            <a:endParaRPr lang="en-US" sz="2000" dirty="0"/>
          </a:p>
          <a:p>
            <a:pPr indent="0" marL="0">
              <a:buNone/>
            </a:pPr>
            <a:r>
              <a:rPr lang="en-US" sz="1200" dirty="0">
                <a:solidFill>
                  <a:schemeClr val="accent5"/>
                </a:solidFill>
              </a:rPr>
              <a:t>M.S. Computer Science, University of Iowa · PMP · AWS AIOps Professional · AI Governance and Strategy (Wharton)</a:t>
            </a:r>
            <a:endParaRPr lang="en-US" sz="2000" dirty="0"/>
          </a:p>
        </p:txBody>
      </p:sp>
      <p:sp>
        <p:nvSpPr>
          <p:cNvPr id="6" name="Stat 1"/>
          <p:cNvSpPr txBox="1"/>
          <p:nvPr/>
        </p:nvSpPr>
        <p:spPr>
          <a:xfrm>
            <a:off x="812902" y="4572000"/>
            <a:ext cx="3339084" cy="1097280"/>
          </a:xfrm>
          <a:prstGeom prst="rect">
            <a:avLst/>
          </a:prstGeom>
          <a:noFill/>
          <a:ln/>
        </p:spPr>
        <p:txBody>
          <a:bodyPr wrap="square" lIns="0" tIns="0" rIns="0" bIns="0" rtlCol="0" anchor="t"/>
          <a:lstStyle/>
          <a:p>
            <a:pPr indent="0" marL="0">
              <a:buNone/>
            </a:pPr>
            <a:r>
              <a:rPr lang="en-US" sz="3600" b="1" dirty="0">
                <a:solidFill>
                  <a:schemeClr val="bg1"/>
                </a:solidFill>
              </a:rPr>
              <a:t>$40M+</a:t>
            </a:r>
            <a:endParaRPr lang="en-US" sz="3600" dirty="0"/>
          </a:p>
          <a:p>
            <a:pPr indent="0" marL="0">
              <a:buNone/>
            </a:pPr>
            <a:r>
              <a:rPr lang="en-US" sz="1200" dirty="0">
                <a:solidFill>
                  <a:schemeClr val="accent4"/>
                </a:solidFill>
              </a:rPr>
              <a:t>Annual technical wins as lead architect (account-team ELA revenue)</a:t>
            </a:r>
            <a:endParaRPr lang="en-US" sz="3600" dirty="0"/>
          </a:p>
        </p:txBody>
      </p:sp>
      <p:sp>
        <p:nvSpPr>
          <p:cNvPr id="7" name="Stat 2"/>
          <p:cNvSpPr txBox="1"/>
          <p:nvPr/>
        </p:nvSpPr>
        <p:spPr>
          <a:xfrm>
            <a:off x="4426306" y="4572000"/>
            <a:ext cx="3339084" cy="1097280"/>
          </a:xfrm>
          <a:prstGeom prst="rect">
            <a:avLst/>
          </a:prstGeom>
          <a:noFill/>
          <a:ln/>
        </p:spPr>
        <p:txBody>
          <a:bodyPr wrap="square" lIns="0" tIns="0" rIns="0" bIns="0" rtlCol="0" anchor="t"/>
          <a:lstStyle/>
          <a:p>
            <a:pPr indent="0" marL="0">
              <a:buNone/>
            </a:pPr>
            <a:r>
              <a:rPr lang="en-US" sz="3600" b="1" dirty="0">
                <a:solidFill>
                  <a:schemeClr val="bg1"/>
                </a:solidFill>
              </a:rPr>
              <a:t>35%</a:t>
            </a:r>
            <a:endParaRPr lang="en-US" sz="3600" dirty="0"/>
          </a:p>
          <a:p>
            <a:pPr indent="0" marL="0">
              <a:buNone/>
            </a:pPr>
            <a:r>
              <a:rPr lang="en-US" sz="1200" dirty="0">
                <a:solidFill>
                  <a:schemeClr val="accent4"/>
                </a:solidFill>
              </a:rPr>
              <a:t>Lower MTTR with AI-driven event correlation</a:t>
            </a:r>
            <a:endParaRPr lang="en-US" sz="3600" dirty="0"/>
          </a:p>
        </p:txBody>
      </p:sp>
      <p:sp>
        <p:nvSpPr>
          <p:cNvPr id="8" name="Stat 3"/>
          <p:cNvSpPr txBox="1"/>
          <p:nvPr/>
        </p:nvSpPr>
        <p:spPr>
          <a:xfrm>
            <a:off x="8039710" y="4572000"/>
            <a:ext cx="3339084" cy="1097280"/>
          </a:xfrm>
          <a:prstGeom prst="rect">
            <a:avLst/>
          </a:prstGeom>
          <a:noFill/>
          <a:ln/>
        </p:spPr>
        <p:txBody>
          <a:bodyPr wrap="square" lIns="0" tIns="0" rIns="0" bIns="0" rtlCol="0" anchor="t"/>
          <a:lstStyle/>
          <a:p>
            <a:pPr indent="0" marL="0">
              <a:buNone/>
            </a:pPr>
            <a:r>
              <a:rPr lang="en-US" sz="3600" b="1" dirty="0">
                <a:solidFill>
                  <a:schemeClr val="bg1"/>
                </a:solidFill>
              </a:rPr>
              <a:t>88%</a:t>
            </a:r>
            <a:endParaRPr lang="en-US" sz="3600" dirty="0"/>
          </a:p>
          <a:p>
            <a:pPr indent="0" marL="0">
              <a:buNone/>
            </a:pPr>
            <a:r>
              <a:rPr lang="en-US" sz="1200" dirty="0">
                <a:solidFill>
                  <a:schemeClr val="accent4"/>
                </a:solidFill>
              </a:rPr>
              <a:t>Less alarm noise with GenAI incident automation</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CUSTOMER EXPERIENCE · THE CHALLENGE</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Replace the incumbent APM platform at a Fortune 500 utility, without risking storm season</a:t>
            </a:r>
            <a:endParaRPr lang="en-US" sz="3200" dirty="0"/>
          </a:p>
        </p:txBody>
      </p:sp>
      <p:sp>
        <p:nvSpPr>
          <p:cNvPr id="5" name="The goal card"/>
          <p:cNvSpPr/>
          <p:nvPr/>
        </p:nvSpPr>
        <p:spPr>
          <a:xfrm>
            <a:off x="812902" y="2011680"/>
            <a:ext cx="3339084" cy="3886200"/>
          </a:xfrm>
          <a:prstGeom prst="roundRect">
            <a:avLst>
              <a:gd name="adj" fmla="val 3286"/>
            </a:avLst>
          </a:prstGeom>
          <a:solidFill>
            <a:schemeClr val="bg1"/>
          </a:solidFill>
          <a:ln w="9525">
            <a:solidFill>
              <a:schemeClr val="accent5">
                <a:alpha val="35000"/>
              </a:schemeClr>
            </a:solidFill>
            <a:prstDash val="solid"/>
          </a:ln>
        </p:spPr>
      </p:sp>
      <p:sp>
        <p:nvSpPr>
          <p:cNvPr id="6" name="The goal"/>
          <p:cNvSpPr txBox="1"/>
          <p:nvPr/>
        </p:nvSpPr>
        <p:spPr>
          <a:xfrm>
            <a:off x="1087222" y="2286000"/>
            <a:ext cx="2790444" cy="33375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The goal</a:t>
            </a:r>
            <a:endParaRPr lang="en-US" sz="2000" dirty="0"/>
          </a:p>
          <a:p>
            <a:pPr indent="0" marL="0">
              <a:buNone/>
            </a:pPr>
            <a:r>
              <a:rPr lang="en-US" sz="1500" dirty="0">
                <a:solidFill>
                  <a:schemeClr val="tx2"/>
                </a:solidFill>
              </a:rPr>
              <a:t>Consolidate Dynatrace and SolarWinds onto one platform: lower cost, coverage across network, infrastructure and legacy systems, and reliable outage reporting for millions of customers. My foothold: they already relied on our DX NetOps, especially for SD-WAN monitoring.</a:t>
            </a:r>
            <a:endParaRPr lang="en-US" sz="2000" dirty="0"/>
          </a:p>
        </p:txBody>
      </p:sp>
      <p:sp>
        <p:nvSpPr>
          <p:cNvPr id="7" name="My role card"/>
          <p:cNvSpPr/>
          <p:nvPr/>
        </p:nvSpPr>
        <p:spPr>
          <a:xfrm>
            <a:off x="4426306" y="2011680"/>
            <a:ext cx="3339084" cy="3886200"/>
          </a:xfrm>
          <a:prstGeom prst="roundRect">
            <a:avLst>
              <a:gd name="adj" fmla="val 3286"/>
            </a:avLst>
          </a:prstGeom>
          <a:solidFill>
            <a:schemeClr val="bg1"/>
          </a:solidFill>
          <a:ln w="9525">
            <a:solidFill>
              <a:schemeClr val="accent5">
                <a:alpha val="35000"/>
              </a:schemeClr>
            </a:solidFill>
            <a:prstDash val="solid"/>
          </a:ln>
        </p:spPr>
      </p:sp>
      <p:sp>
        <p:nvSpPr>
          <p:cNvPr id="8" name="My role"/>
          <p:cNvSpPr txBox="1"/>
          <p:nvPr/>
        </p:nvSpPr>
        <p:spPr>
          <a:xfrm>
            <a:off x="4700626" y="2286000"/>
            <a:ext cx="2790444" cy="33375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My role</a:t>
            </a:r>
            <a:endParaRPr lang="en-US" sz="2000" dirty="0"/>
          </a:p>
          <a:p>
            <a:pPr indent="0" marL="0">
              <a:buNone/>
            </a:pPr>
            <a:r>
              <a:rPr lang="en-US" sz="1500" dirty="0">
                <a:solidFill>
                  <a:schemeClr val="tx2"/>
                </a:solidFill>
              </a:rPr>
              <a:t>Technical lead from evaluation through implementation: PoC with written success criteria, target architecture, migration plan, and enabling the six-person monitoring team (U.S. and India), plus a weekly Friday enablement session open to the whole company. I took each design through the Architecture Review Board.</a:t>
            </a:r>
            <a:endParaRPr lang="en-US" sz="2000" dirty="0"/>
          </a:p>
        </p:txBody>
      </p:sp>
      <p:sp>
        <p:nvSpPr>
          <p:cNvPr id="9" name="The risks card"/>
          <p:cNvSpPr/>
          <p:nvPr/>
        </p:nvSpPr>
        <p:spPr>
          <a:xfrm>
            <a:off x="8039710" y="2011680"/>
            <a:ext cx="3339084" cy="3886200"/>
          </a:xfrm>
          <a:prstGeom prst="roundRect">
            <a:avLst>
              <a:gd name="adj" fmla="val 3286"/>
            </a:avLst>
          </a:prstGeom>
          <a:solidFill>
            <a:schemeClr val="bg1"/>
          </a:solidFill>
          <a:ln w="9525">
            <a:solidFill>
              <a:schemeClr val="accent5">
                <a:alpha val="35000"/>
              </a:schemeClr>
            </a:solidFill>
            <a:prstDash val="solid"/>
          </a:ln>
        </p:spPr>
      </p:sp>
      <p:sp>
        <p:nvSpPr>
          <p:cNvPr id="10" name="The risks"/>
          <p:cNvSpPr txBox="1"/>
          <p:nvPr/>
        </p:nvSpPr>
        <p:spPr>
          <a:xfrm>
            <a:off x="8314030" y="2286000"/>
            <a:ext cx="2790444" cy="333756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The risks</a:t>
            </a:r>
            <a:endParaRPr lang="en-US" sz="2000" dirty="0"/>
          </a:p>
          <a:p>
            <a:pPr indent="0" marL="0">
              <a:spcAft>
                <a:spcPts val="600"/>
              </a:spcAft>
              <a:buNone/>
            </a:pPr>
            <a:r>
              <a:rPr lang="en-US" sz="1500" b="1" dirty="0">
                <a:solidFill>
                  <a:schemeClr val="tx2"/>
                </a:solidFill>
              </a:rPr>
              <a:t>Technical: </a:t>
            </a:r>
            <a:pPr indent="0" marL="0">
              <a:buNone/>
            </a:pPr>
            <a:r>
              <a:rPr lang="en-US" sz="1500" dirty="0">
                <a:solidFill>
                  <a:schemeClr val="tx2"/>
                </a:solidFill>
              </a:rPr>
              <a:t>5,000+ agents across apps, infrastructure and network</a:t>
            </a:r>
            <a:endParaRPr lang="en-US" sz="2000" dirty="0"/>
          </a:p>
          <a:p>
            <a:pPr indent="0" marL="0">
              <a:spcAft>
                <a:spcPts val="600"/>
              </a:spcAft>
              <a:buNone/>
            </a:pPr>
            <a:r>
              <a:rPr lang="en-US" sz="1500" b="1" dirty="0">
                <a:solidFill>
                  <a:schemeClr val="tx2"/>
                </a:solidFill>
              </a:rPr>
              <a:t>Political: </a:t>
            </a:r>
            <a:pPr indent="0" marL="0">
              <a:buNone/>
            </a:pPr>
            <a:r>
              <a:rPr lang="en-US" sz="1500" dirty="0">
                <a:solidFill>
                  <a:schemeClr val="tx2"/>
                </a:solidFill>
              </a:rPr>
              <a:t>the TIBCO team relied on Dynatrace's live view of every JVM thread</a:t>
            </a:r>
            <a:endParaRPr lang="en-US" sz="2000" dirty="0"/>
          </a:p>
          <a:p>
            <a:pPr indent="0" marL="0">
              <a:buNone/>
            </a:pPr>
            <a:r>
              <a:rPr lang="en-US" sz="1500" b="1" dirty="0">
                <a:solidFill>
                  <a:schemeClr val="tx2"/>
                </a:solidFill>
              </a:rPr>
              <a:t>Timing: </a:t>
            </a:r>
            <a:pPr indent="0" marL="0">
              <a:buNone/>
            </a:pPr>
            <a:r>
              <a:rPr lang="en-US" sz="1500" dirty="0">
                <a:solidFill>
                  <a:schemeClr val="tx2"/>
                </a:solidFill>
              </a:rPr>
              <a:t>hurricane-season change freezes</a:t>
            </a:r>
            <a:endParaRPr lang="en-US" sz="20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CUSTOMER EXPERIENCE · HOW I DELIVERED</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Phase it, run in parallel, prove it first</a:t>
            </a:r>
            <a:endParaRPr lang="en-US" sz="3200" dirty="0"/>
          </a:p>
        </p:txBody>
      </p:sp>
      <p:sp>
        <p:nvSpPr>
          <p:cNvPr id="5" name="Investigate and unblock card"/>
          <p:cNvSpPr/>
          <p:nvPr/>
        </p:nvSpPr>
        <p:spPr>
          <a:xfrm>
            <a:off x="812902" y="1938528"/>
            <a:ext cx="5145786" cy="1536192"/>
          </a:xfrm>
          <a:prstGeom prst="roundRect">
            <a:avLst>
              <a:gd name="adj" fmla="val 7143"/>
            </a:avLst>
          </a:prstGeom>
          <a:solidFill>
            <a:schemeClr val="bg1"/>
          </a:solidFill>
          <a:ln w="9525">
            <a:solidFill>
              <a:schemeClr val="accent5">
                <a:alpha val="35000"/>
              </a:schemeClr>
            </a:solidFill>
            <a:prstDash val="solid"/>
          </a:ln>
        </p:spPr>
      </p:sp>
      <p:sp>
        <p:nvSpPr>
          <p:cNvPr id="6" name="Investigate and unblock"/>
          <p:cNvSpPr txBox="1"/>
          <p:nvPr/>
        </p:nvSpPr>
        <p:spPr>
          <a:xfrm>
            <a:off x="1068934" y="2121408"/>
            <a:ext cx="4633722" cy="1243584"/>
          </a:xfrm>
          <a:prstGeom prst="rect">
            <a:avLst/>
          </a:prstGeom>
          <a:noFill/>
          <a:ln/>
        </p:spPr>
        <p:txBody>
          <a:bodyPr wrap="square" lIns="0" tIns="0" rIns="0" bIns="0" rtlCol="0" anchor="t"/>
          <a:lstStyle/>
          <a:p>
            <a:pPr indent="0" marL="0">
              <a:spcAft>
                <a:spcPts val="500"/>
              </a:spcAft>
              <a:buNone/>
            </a:pPr>
            <a:r>
              <a:rPr lang="en-US" sz="1500" b="1" dirty="0">
                <a:solidFill>
                  <a:schemeClr val="accent2"/>
                </a:solidFill>
              </a:rPr>
              <a:t>Investigate and unblock</a:t>
            </a:r>
            <a:endParaRPr lang="en-US" sz="1500" dirty="0"/>
          </a:p>
          <a:p>
            <a:pPr indent="0" marL="0">
              <a:buNone/>
            </a:pPr>
            <a:r>
              <a:rPr lang="en-US" sz="1300" dirty="0">
                <a:solidFill>
                  <a:schemeClr val="tx2"/>
                </a:solidFill>
              </a:rPr>
              <a:t>The TIBCO thread view was missing. I automated thread dumps (kill -3, jcmd Thread.print) into the same running, blocked and waiting view, bought time until the product shipped it two releases later, and made the TIBCO team our design partner and beta tester.</a:t>
            </a:r>
            <a:endParaRPr lang="en-US" sz="1500" dirty="0"/>
          </a:p>
        </p:txBody>
      </p:sp>
      <p:sp>
        <p:nvSpPr>
          <p:cNvPr id="7" name="Balance scope, time and quality card"/>
          <p:cNvSpPr/>
          <p:nvPr/>
        </p:nvSpPr>
        <p:spPr>
          <a:xfrm>
            <a:off x="6233008" y="1938528"/>
            <a:ext cx="5145786" cy="1536192"/>
          </a:xfrm>
          <a:prstGeom prst="roundRect">
            <a:avLst>
              <a:gd name="adj" fmla="val 7143"/>
            </a:avLst>
          </a:prstGeom>
          <a:solidFill>
            <a:schemeClr val="bg1"/>
          </a:solidFill>
          <a:ln w="9525">
            <a:solidFill>
              <a:schemeClr val="accent5">
                <a:alpha val="35000"/>
              </a:schemeClr>
            </a:solidFill>
            <a:prstDash val="solid"/>
          </a:ln>
        </p:spPr>
      </p:sp>
      <p:sp>
        <p:nvSpPr>
          <p:cNvPr id="8" name="Balance scope, time and quality"/>
          <p:cNvSpPr txBox="1"/>
          <p:nvPr/>
        </p:nvSpPr>
        <p:spPr>
          <a:xfrm>
            <a:off x="6489040" y="2121408"/>
            <a:ext cx="4633722" cy="1243584"/>
          </a:xfrm>
          <a:prstGeom prst="rect">
            <a:avLst/>
          </a:prstGeom>
          <a:noFill/>
          <a:ln/>
        </p:spPr>
        <p:txBody>
          <a:bodyPr wrap="square" lIns="0" tIns="0" rIns="0" bIns="0" rtlCol="0" anchor="t"/>
          <a:lstStyle/>
          <a:p>
            <a:pPr indent="0" marL="0">
              <a:spcAft>
                <a:spcPts val="500"/>
              </a:spcAft>
              <a:buNone/>
            </a:pPr>
            <a:r>
              <a:rPr lang="en-US" sz="1500" b="1" dirty="0">
                <a:solidFill>
                  <a:schemeClr val="accent2"/>
                </a:solidFill>
              </a:rPr>
              <a:t>Balance scope, time and quality</a:t>
            </a:r>
            <a:endParaRPr lang="en-US" sz="1500" dirty="0"/>
          </a:p>
          <a:p>
            <a:pPr indent="0" marL="0">
              <a:buNone/>
            </a:pPr>
            <a:r>
              <a:rPr lang="en-US" sz="1300" dirty="0">
                <a:solidFill>
                  <a:schemeClr val="tx2"/>
                </a:solidFill>
              </a:rPr>
              <a:t>A 2-month PoC (typically 1 week), run as one PoC per team, each judged against its own tool: Dynatrace for TIBCO and Java, SolarWinds for sysadmins and DBAs. Then waves and cut-overs around change freezes, with the old tools in parallel until the last wave. Nothing left behind.</a:t>
            </a:r>
            <a:endParaRPr lang="en-US" sz="1500" dirty="0"/>
          </a:p>
        </p:txBody>
      </p:sp>
      <p:sp>
        <p:nvSpPr>
          <p:cNvPr id="9" name="Restore and adjust card"/>
          <p:cNvSpPr/>
          <p:nvPr/>
        </p:nvSpPr>
        <p:spPr>
          <a:xfrm>
            <a:off x="812902" y="3657600"/>
            <a:ext cx="5145786" cy="1536192"/>
          </a:xfrm>
          <a:prstGeom prst="roundRect">
            <a:avLst>
              <a:gd name="adj" fmla="val 7143"/>
            </a:avLst>
          </a:prstGeom>
          <a:solidFill>
            <a:schemeClr val="bg1"/>
          </a:solidFill>
          <a:ln w="9525">
            <a:solidFill>
              <a:schemeClr val="accent5">
                <a:alpha val="35000"/>
              </a:schemeClr>
            </a:solidFill>
            <a:prstDash val="solid"/>
          </a:ln>
        </p:spPr>
      </p:sp>
      <p:sp>
        <p:nvSpPr>
          <p:cNvPr id="10" name="Restore and adjust"/>
          <p:cNvSpPr txBox="1"/>
          <p:nvPr/>
        </p:nvSpPr>
        <p:spPr>
          <a:xfrm>
            <a:off x="1068934" y="3840480"/>
            <a:ext cx="4633722" cy="1243584"/>
          </a:xfrm>
          <a:prstGeom prst="rect">
            <a:avLst/>
          </a:prstGeom>
          <a:noFill/>
          <a:ln/>
        </p:spPr>
        <p:txBody>
          <a:bodyPr wrap="square" lIns="0" tIns="0" rIns="0" bIns="0" rtlCol="0" anchor="t"/>
          <a:lstStyle/>
          <a:p>
            <a:pPr indent="0" marL="0">
              <a:spcAft>
                <a:spcPts val="500"/>
              </a:spcAft>
              <a:buNone/>
            </a:pPr>
            <a:r>
              <a:rPr lang="en-US" sz="1500" b="1" dirty="0">
                <a:solidFill>
                  <a:schemeClr val="accent2"/>
                </a:solidFill>
              </a:rPr>
              <a:t>Restore and adjust</a:t>
            </a:r>
            <a:endParaRPr lang="en-US" sz="1500" dirty="0"/>
          </a:p>
          <a:p>
            <a:pPr indent="0" marL="0">
              <a:buNone/>
            </a:pPr>
            <a:r>
              <a:rPr lang="en-US" sz="1300" dirty="0">
                <a:solidFill>
                  <a:schemeClr val="tx2"/>
                </a:solidFill>
              </a:rPr>
              <a:t>In production, the Java agent on its High profile (set for maximum visibility) slowed the apps, and the JVM team pulled it. I benchmarked, restarted on Low, then moved to the recommended Medium once the team trusted it.</a:t>
            </a:r>
            <a:endParaRPr lang="en-US" sz="1500" dirty="0"/>
          </a:p>
        </p:txBody>
      </p:sp>
      <p:sp>
        <p:nvSpPr>
          <p:cNvPr id="11" name="Alongside the day job card"/>
          <p:cNvSpPr/>
          <p:nvPr/>
        </p:nvSpPr>
        <p:spPr>
          <a:xfrm>
            <a:off x="6233008" y="3657600"/>
            <a:ext cx="5145786" cy="1536192"/>
          </a:xfrm>
          <a:prstGeom prst="roundRect">
            <a:avLst>
              <a:gd name="adj" fmla="val 7143"/>
            </a:avLst>
          </a:prstGeom>
          <a:solidFill>
            <a:schemeClr val="bg1"/>
          </a:solidFill>
          <a:ln w="9525">
            <a:solidFill>
              <a:schemeClr val="accent5">
                <a:alpha val="35000"/>
              </a:schemeClr>
            </a:solidFill>
            <a:prstDash val="solid"/>
          </a:ln>
        </p:spPr>
      </p:sp>
      <p:sp>
        <p:nvSpPr>
          <p:cNvPr id="12" name="Alongside the day job"/>
          <p:cNvSpPr txBox="1"/>
          <p:nvPr/>
        </p:nvSpPr>
        <p:spPr>
          <a:xfrm>
            <a:off x="6489040" y="3840480"/>
            <a:ext cx="4633722" cy="1243584"/>
          </a:xfrm>
          <a:prstGeom prst="rect">
            <a:avLst/>
          </a:prstGeom>
          <a:noFill/>
          <a:ln/>
        </p:spPr>
        <p:txBody>
          <a:bodyPr wrap="square" lIns="0" tIns="0" rIns="0" bIns="0" rtlCol="0" anchor="t"/>
          <a:lstStyle/>
          <a:p>
            <a:pPr indent="0" marL="0">
              <a:spcAft>
                <a:spcPts val="500"/>
              </a:spcAft>
              <a:buNone/>
            </a:pPr>
            <a:r>
              <a:rPr lang="en-US" sz="1500" b="1" dirty="0">
                <a:solidFill>
                  <a:schemeClr val="accent2"/>
                </a:solidFill>
              </a:rPr>
              <a:t>Alongside the day job</a:t>
            </a:r>
            <a:endParaRPr lang="en-US" sz="1500" dirty="0"/>
          </a:p>
          <a:p>
            <a:pPr indent="0" marL="0">
              <a:buNone/>
            </a:pPr>
            <a:r>
              <a:rPr lang="en-US" sz="1300" dirty="0">
                <a:solidFill>
                  <a:schemeClr val="tx2"/>
                </a:solidFill>
              </a:rPr>
              <a:t>Technical owner for 14 other accounts at the same time. I shared the rollout with the customer's monitoring and platform teams, and our 8 consultants covered for each other as needed.</a:t>
            </a:r>
            <a:endParaRPr lang="en-US" sz="1500" dirty="0"/>
          </a:p>
        </p:txBody>
      </p:sp>
      <p:sp>
        <p:nvSpPr>
          <p:cNvPr id="13" name="Business value band"/>
          <p:cNvSpPr/>
          <p:nvPr/>
        </p:nvSpPr>
        <p:spPr>
          <a:xfrm>
            <a:off x="812902" y="5376672"/>
            <a:ext cx="10565892" cy="777240"/>
          </a:xfrm>
          <a:prstGeom prst="roundRect">
            <a:avLst>
              <a:gd name="adj" fmla="val 14118"/>
            </a:avLst>
          </a:prstGeom>
          <a:solidFill>
            <a:schemeClr val="tx1"/>
          </a:solidFill>
          <a:ln/>
        </p:spPr>
      </p:sp>
      <p:sp>
        <p:nvSpPr>
          <p:cNvPr id="14" name="Business value label"/>
          <p:cNvSpPr txBox="1"/>
          <p:nvPr/>
        </p:nvSpPr>
        <p:spPr>
          <a:xfrm>
            <a:off x="1087222" y="5376672"/>
            <a:ext cx="1828800" cy="777240"/>
          </a:xfrm>
          <a:prstGeom prst="rect">
            <a:avLst/>
          </a:prstGeom>
          <a:noFill/>
          <a:ln/>
        </p:spPr>
        <p:txBody>
          <a:bodyPr wrap="square" lIns="0" tIns="0" rIns="0" bIns="0" rtlCol="0" anchor="ctr"/>
          <a:lstStyle/>
          <a:p>
            <a:pPr indent="0" marL="0">
              <a:buNone/>
            </a:pPr>
            <a:r>
              <a:rPr lang="en-US" sz="1200" b="1" spc="300" kern="0" dirty="0">
                <a:solidFill>
                  <a:schemeClr val="accent1"/>
                </a:solidFill>
              </a:rPr>
              <a:t>BUSINESS VALUE</a:t>
            </a:r>
            <a:endParaRPr lang="en-US" sz="1200" dirty="0"/>
          </a:p>
        </p:txBody>
      </p:sp>
      <p:sp>
        <p:nvSpPr>
          <p:cNvPr id="15" name="Business value"/>
          <p:cNvSpPr txBox="1"/>
          <p:nvPr/>
        </p:nvSpPr>
        <p:spPr>
          <a:xfrm>
            <a:off x="2916022" y="5376672"/>
            <a:ext cx="8188452" cy="777240"/>
          </a:xfrm>
          <a:prstGeom prst="rect">
            <a:avLst/>
          </a:prstGeom>
          <a:noFill/>
          <a:ln/>
        </p:spPr>
        <p:txBody>
          <a:bodyPr wrap="square" lIns="0" tIns="0" rIns="0" bIns="0" rtlCol="0" anchor="ctr"/>
          <a:lstStyle/>
          <a:p>
            <a:pPr indent="0" marL="0">
              <a:buNone/>
            </a:pPr>
            <a:r>
              <a:rPr lang="en-US" sz="1400" dirty="0">
                <a:solidFill>
                  <a:schemeClr val="bg1"/>
                </a:solidFill>
              </a:rPr>
              <a:t>5,000+ agents migrated in 2 years · 3 tools retired (Dynatrace, SolarWinds, Hyperping) · 40% lower observability tooling cost, in one ELA · from monitoring to service observability and SLOs</a:t>
            </a:r>
            <a:endParaRPr lang="en-US" sz="14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TECHNICAL EXPERIENCE · TARGET ARCHITECTURE</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One platform for every layer</a:t>
            </a:r>
            <a:endParaRPr lang="en-US" sz="3200" dirty="0"/>
          </a:p>
        </p:txBody>
      </p:sp>
      <p:sp>
        <p:nvSpPr>
          <p:cNvPr id="5" name="MONITORED label"/>
          <p:cNvSpPr txBox="1"/>
          <p:nvPr/>
        </p:nvSpPr>
        <p:spPr>
          <a:xfrm>
            <a:off x="812902"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MONITORED</a:t>
            </a:r>
            <a:endParaRPr lang="en-US" sz="1200" dirty="0"/>
          </a:p>
        </p:txBody>
      </p:sp>
      <p:sp>
        <p:nvSpPr>
          <p:cNvPr id="6" name="Customer apps: outage map, portal, billing and payments, mobile tile"/>
          <p:cNvSpPr/>
          <p:nvPr/>
        </p:nvSpPr>
        <p:spPr>
          <a:xfrm>
            <a:off x="812902" y="2377440"/>
            <a:ext cx="2188845" cy="585216"/>
          </a:xfrm>
          <a:prstGeom prst="roundRect">
            <a:avLst>
              <a:gd name="adj" fmla="val 18750"/>
            </a:avLst>
          </a:prstGeom>
          <a:solidFill>
            <a:schemeClr val="bg1"/>
          </a:solidFill>
          <a:ln w="9525">
            <a:solidFill>
              <a:schemeClr val="accent5">
                <a:alpha val="35000"/>
              </a:schemeClr>
            </a:solidFill>
            <a:prstDash val="solid"/>
          </a:ln>
        </p:spPr>
      </p:sp>
      <p:sp>
        <p:nvSpPr>
          <p:cNvPr id="7" name="Customer apps: outage map, portal, billing and payments, mobile"/>
          <p:cNvSpPr txBox="1"/>
          <p:nvPr/>
        </p:nvSpPr>
        <p:spPr>
          <a:xfrm>
            <a:off x="922630" y="2377440"/>
            <a:ext cx="1969389" cy="585216"/>
          </a:xfrm>
          <a:prstGeom prst="rect">
            <a:avLst/>
          </a:prstGeom>
          <a:noFill/>
          <a:ln/>
        </p:spPr>
        <p:txBody>
          <a:bodyPr wrap="square" lIns="0" tIns="0" rIns="0" bIns="0" rtlCol="0" anchor="ctr"/>
          <a:lstStyle/>
          <a:p>
            <a:pPr indent="0" marL="0">
              <a:buNone/>
            </a:pPr>
            <a:r>
              <a:rPr lang="en-US" sz="1150" dirty="0">
                <a:solidFill>
                  <a:schemeClr val="tx1"/>
                </a:solidFill>
              </a:rPr>
              <a:t>Customer apps: outage map, portal, billing and payments, mobile</a:t>
            </a:r>
            <a:endParaRPr lang="en-US" sz="1150" dirty="0"/>
          </a:p>
        </p:txBody>
      </p:sp>
      <p:sp>
        <p:nvSpPr>
          <p:cNvPr id="8" name="Back-office: CIS, OMS, GIS, meter data, work management tile"/>
          <p:cNvSpPr/>
          <p:nvPr/>
        </p:nvSpPr>
        <p:spPr>
          <a:xfrm>
            <a:off x="812902" y="3026664"/>
            <a:ext cx="2188845" cy="502920"/>
          </a:xfrm>
          <a:prstGeom prst="roundRect">
            <a:avLst>
              <a:gd name="adj" fmla="val 21818"/>
            </a:avLst>
          </a:prstGeom>
          <a:solidFill>
            <a:schemeClr val="bg1"/>
          </a:solidFill>
          <a:ln w="9525">
            <a:solidFill>
              <a:schemeClr val="accent5">
                <a:alpha val="35000"/>
              </a:schemeClr>
            </a:solidFill>
            <a:prstDash val="solid"/>
          </a:ln>
        </p:spPr>
      </p:sp>
      <p:sp>
        <p:nvSpPr>
          <p:cNvPr id="9" name="Back-office: CIS, OMS, GIS, meter data, work management"/>
          <p:cNvSpPr txBox="1"/>
          <p:nvPr/>
        </p:nvSpPr>
        <p:spPr>
          <a:xfrm>
            <a:off x="922630" y="3026664"/>
            <a:ext cx="1969389" cy="502920"/>
          </a:xfrm>
          <a:prstGeom prst="rect">
            <a:avLst/>
          </a:prstGeom>
          <a:noFill/>
          <a:ln/>
        </p:spPr>
        <p:txBody>
          <a:bodyPr wrap="square" lIns="0" tIns="0" rIns="0" bIns="0" rtlCol="0" anchor="ctr"/>
          <a:lstStyle/>
          <a:p>
            <a:pPr indent="0" marL="0">
              <a:buNone/>
            </a:pPr>
            <a:r>
              <a:rPr lang="en-US" sz="1150" dirty="0">
                <a:solidFill>
                  <a:schemeClr val="tx1"/>
                </a:solidFill>
              </a:rPr>
              <a:t>Back-office: CIS, OMS, GIS, meter data, work management</a:t>
            </a:r>
            <a:endParaRPr lang="en-US" sz="1150" dirty="0"/>
          </a:p>
        </p:txBody>
      </p:sp>
      <p:sp>
        <p:nvSpPr>
          <p:cNvPr id="10" name="Data centers: Windows, Linux, VMware tile"/>
          <p:cNvSpPr/>
          <p:nvPr/>
        </p:nvSpPr>
        <p:spPr>
          <a:xfrm>
            <a:off x="812902" y="3593592"/>
            <a:ext cx="2188845" cy="457200"/>
          </a:xfrm>
          <a:prstGeom prst="roundRect">
            <a:avLst>
              <a:gd name="adj" fmla="val 24000"/>
            </a:avLst>
          </a:prstGeom>
          <a:solidFill>
            <a:schemeClr val="bg1"/>
          </a:solidFill>
          <a:ln w="9525">
            <a:solidFill>
              <a:schemeClr val="accent5">
                <a:alpha val="35000"/>
              </a:schemeClr>
            </a:solidFill>
            <a:prstDash val="solid"/>
          </a:ln>
        </p:spPr>
      </p:sp>
      <p:sp>
        <p:nvSpPr>
          <p:cNvPr id="11" name="Data centers: Windows, Linux, VMware"/>
          <p:cNvSpPr txBox="1"/>
          <p:nvPr/>
        </p:nvSpPr>
        <p:spPr>
          <a:xfrm>
            <a:off x="922630" y="3593592"/>
            <a:ext cx="1969389" cy="457200"/>
          </a:xfrm>
          <a:prstGeom prst="rect">
            <a:avLst/>
          </a:prstGeom>
          <a:noFill/>
          <a:ln/>
        </p:spPr>
        <p:txBody>
          <a:bodyPr wrap="square" lIns="0" tIns="0" rIns="0" bIns="0" rtlCol="0" anchor="ctr"/>
          <a:lstStyle/>
          <a:p>
            <a:pPr indent="0" marL="0">
              <a:buNone/>
            </a:pPr>
            <a:r>
              <a:rPr lang="en-US" sz="1150" dirty="0">
                <a:solidFill>
                  <a:schemeClr val="tx1"/>
                </a:solidFill>
              </a:rPr>
              <a:t>Data centers: Windows, Linux, VMware</a:t>
            </a:r>
            <a:endParaRPr lang="en-US" sz="1150" dirty="0"/>
          </a:p>
        </p:txBody>
      </p:sp>
      <p:sp>
        <p:nvSpPr>
          <p:cNvPr id="12" name="Network across the service territory tile"/>
          <p:cNvSpPr/>
          <p:nvPr/>
        </p:nvSpPr>
        <p:spPr>
          <a:xfrm>
            <a:off x="812902" y="4114800"/>
            <a:ext cx="2188845" cy="457200"/>
          </a:xfrm>
          <a:prstGeom prst="roundRect">
            <a:avLst>
              <a:gd name="adj" fmla="val 24000"/>
            </a:avLst>
          </a:prstGeom>
          <a:solidFill>
            <a:schemeClr val="bg1"/>
          </a:solidFill>
          <a:ln w="9525">
            <a:solidFill>
              <a:schemeClr val="accent5">
                <a:alpha val="35000"/>
              </a:schemeClr>
            </a:solidFill>
            <a:prstDash val="solid"/>
          </a:ln>
        </p:spPr>
      </p:sp>
      <p:sp>
        <p:nvSpPr>
          <p:cNvPr id="13" name="Network across the service territory"/>
          <p:cNvSpPr txBox="1"/>
          <p:nvPr/>
        </p:nvSpPr>
        <p:spPr>
          <a:xfrm>
            <a:off x="922630" y="4114800"/>
            <a:ext cx="1969389" cy="457200"/>
          </a:xfrm>
          <a:prstGeom prst="rect">
            <a:avLst/>
          </a:prstGeom>
          <a:noFill/>
          <a:ln/>
        </p:spPr>
        <p:txBody>
          <a:bodyPr wrap="square" lIns="0" tIns="0" rIns="0" bIns="0" rtlCol="0" anchor="ctr"/>
          <a:lstStyle/>
          <a:p>
            <a:pPr indent="0" marL="0">
              <a:buNone/>
            </a:pPr>
            <a:r>
              <a:rPr lang="en-US" sz="1150" dirty="0">
                <a:solidFill>
                  <a:schemeClr val="tx1"/>
                </a:solidFill>
              </a:rPr>
              <a:t>Network across the service territory</a:t>
            </a:r>
            <a:endParaRPr lang="en-US" sz="1150" dirty="0"/>
          </a:p>
        </p:txBody>
      </p:sp>
      <p:sp>
        <p:nvSpPr>
          <p:cNvPr id="14" name="Kubernetes and AWS tile"/>
          <p:cNvSpPr/>
          <p:nvPr/>
        </p:nvSpPr>
        <p:spPr>
          <a:xfrm>
            <a:off x="812902" y="4636008"/>
            <a:ext cx="2188845" cy="411480"/>
          </a:xfrm>
          <a:prstGeom prst="roundRect">
            <a:avLst>
              <a:gd name="adj" fmla="val 26667"/>
            </a:avLst>
          </a:prstGeom>
          <a:solidFill>
            <a:schemeClr val="bg1"/>
          </a:solidFill>
          <a:ln w="9525">
            <a:solidFill>
              <a:schemeClr val="accent5">
                <a:alpha val="35000"/>
              </a:schemeClr>
            </a:solidFill>
            <a:prstDash val="solid"/>
          </a:ln>
        </p:spPr>
      </p:sp>
      <p:sp>
        <p:nvSpPr>
          <p:cNvPr id="15" name="Kubernetes and AWS"/>
          <p:cNvSpPr txBox="1"/>
          <p:nvPr/>
        </p:nvSpPr>
        <p:spPr>
          <a:xfrm>
            <a:off x="922630" y="4636008"/>
            <a:ext cx="1969389" cy="411480"/>
          </a:xfrm>
          <a:prstGeom prst="rect">
            <a:avLst/>
          </a:prstGeom>
          <a:noFill/>
          <a:ln/>
        </p:spPr>
        <p:txBody>
          <a:bodyPr wrap="square" lIns="0" tIns="0" rIns="0" bIns="0" rtlCol="0" anchor="ctr"/>
          <a:lstStyle/>
          <a:p>
            <a:pPr indent="0" marL="0">
              <a:buNone/>
            </a:pPr>
            <a:r>
              <a:rPr lang="en-US" sz="1150" dirty="0">
                <a:solidFill>
                  <a:schemeClr val="tx1"/>
                </a:solidFill>
              </a:rPr>
              <a:t>Kubernetes and AWS</a:t>
            </a:r>
            <a:endParaRPr lang="en-US" sz="1150" dirty="0"/>
          </a:p>
        </p:txBody>
      </p:sp>
      <p:sp>
        <p:nvSpPr>
          <p:cNvPr id="16" name="COLLECTED BY label"/>
          <p:cNvSpPr txBox="1"/>
          <p:nvPr/>
        </p:nvSpPr>
        <p:spPr>
          <a:xfrm>
            <a:off x="3605251"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COLLECTED BY</a:t>
            </a:r>
            <a:endParaRPr lang="en-US" sz="1200" dirty="0"/>
          </a:p>
        </p:txBody>
      </p:sp>
      <p:sp>
        <p:nvSpPr>
          <p:cNvPr id="17" name="DX APM agents on app servers tile"/>
          <p:cNvSpPr/>
          <p:nvPr/>
        </p:nvSpPr>
        <p:spPr>
          <a:xfrm>
            <a:off x="3605251" y="2377440"/>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18" name="DX APM agents on app servers"/>
          <p:cNvSpPr txBox="1"/>
          <p:nvPr/>
        </p:nvSpPr>
        <p:spPr>
          <a:xfrm>
            <a:off x="3714979" y="2377440"/>
            <a:ext cx="1969389" cy="566928"/>
          </a:xfrm>
          <a:prstGeom prst="rect">
            <a:avLst/>
          </a:prstGeom>
          <a:noFill/>
          <a:ln/>
        </p:spPr>
        <p:txBody>
          <a:bodyPr wrap="square" lIns="0" tIns="0" rIns="0" bIns="0" rtlCol="0" anchor="ctr"/>
          <a:lstStyle/>
          <a:p>
            <a:pPr indent="0" marL="0">
              <a:buNone/>
            </a:pPr>
            <a:r>
              <a:rPr lang="en-US" sz="1200" dirty="0">
                <a:solidFill>
                  <a:schemeClr val="tx1"/>
                </a:solidFill>
              </a:rPr>
              <a:t>DX APM agents on app servers</a:t>
            </a:r>
            <a:endParaRPr lang="en-US" sz="1200" dirty="0"/>
          </a:p>
        </p:txBody>
      </p:sp>
      <p:sp>
        <p:nvSpPr>
          <p:cNvPr id="19" name="UIM hubs and robots per data center tile"/>
          <p:cNvSpPr/>
          <p:nvPr/>
        </p:nvSpPr>
        <p:spPr>
          <a:xfrm>
            <a:off x="3605251" y="3035808"/>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20" name="UIM hubs and robots per data center"/>
          <p:cNvSpPr txBox="1"/>
          <p:nvPr/>
        </p:nvSpPr>
        <p:spPr>
          <a:xfrm>
            <a:off x="3714979" y="3035808"/>
            <a:ext cx="1969389" cy="566928"/>
          </a:xfrm>
          <a:prstGeom prst="rect">
            <a:avLst/>
          </a:prstGeom>
          <a:noFill/>
          <a:ln/>
        </p:spPr>
        <p:txBody>
          <a:bodyPr wrap="square" lIns="0" tIns="0" rIns="0" bIns="0" rtlCol="0" anchor="ctr"/>
          <a:lstStyle/>
          <a:p>
            <a:pPr indent="0" marL="0">
              <a:buNone/>
            </a:pPr>
            <a:r>
              <a:rPr lang="en-US" sz="1200" dirty="0">
                <a:solidFill>
                  <a:schemeClr val="tx1"/>
                </a:solidFill>
              </a:rPr>
              <a:t>UIM hubs and robots per data center</a:t>
            </a:r>
            <a:endParaRPr lang="en-US" sz="1200" dirty="0"/>
          </a:p>
        </p:txBody>
      </p:sp>
      <p:sp>
        <p:nvSpPr>
          <p:cNvPr id="21" name="NetOps fault isolation and performance tile"/>
          <p:cNvSpPr/>
          <p:nvPr/>
        </p:nvSpPr>
        <p:spPr>
          <a:xfrm>
            <a:off x="3605251" y="3694176"/>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22" name="NetOps fault isolation and performance"/>
          <p:cNvSpPr txBox="1"/>
          <p:nvPr/>
        </p:nvSpPr>
        <p:spPr>
          <a:xfrm>
            <a:off x="3714979" y="3694176"/>
            <a:ext cx="1969389" cy="566928"/>
          </a:xfrm>
          <a:prstGeom prst="rect">
            <a:avLst/>
          </a:prstGeom>
          <a:noFill/>
          <a:ln/>
        </p:spPr>
        <p:txBody>
          <a:bodyPr wrap="square" lIns="0" tIns="0" rIns="0" bIns="0" rtlCol="0" anchor="ctr"/>
          <a:lstStyle/>
          <a:p>
            <a:pPr indent="0" marL="0">
              <a:buNone/>
            </a:pPr>
            <a:r>
              <a:rPr lang="en-US" sz="1200" dirty="0">
                <a:solidFill>
                  <a:schemeClr val="tx1"/>
                </a:solidFill>
              </a:rPr>
              <a:t>NetOps fault isolation and performance</a:t>
            </a:r>
            <a:endParaRPr lang="en-US" sz="1200" dirty="0"/>
          </a:p>
        </p:txBody>
      </p:sp>
      <p:sp>
        <p:nvSpPr>
          <p:cNvPr id="23" name="Cloud APIs and Kubernetes monitoring tile"/>
          <p:cNvSpPr/>
          <p:nvPr/>
        </p:nvSpPr>
        <p:spPr>
          <a:xfrm>
            <a:off x="3605251" y="4352544"/>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24" name="Cloud APIs and Kubernetes monitoring"/>
          <p:cNvSpPr txBox="1"/>
          <p:nvPr/>
        </p:nvSpPr>
        <p:spPr>
          <a:xfrm>
            <a:off x="3714979" y="4352544"/>
            <a:ext cx="1969389" cy="566928"/>
          </a:xfrm>
          <a:prstGeom prst="rect">
            <a:avLst/>
          </a:prstGeom>
          <a:noFill/>
          <a:ln/>
        </p:spPr>
        <p:txBody>
          <a:bodyPr wrap="square" lIns="0" tIns="0" rIns="0" bIns="0" rtlCol="0" anchor="ctr"/>
          <a:lstStyle/>
          <a:p>
            <a:pPr indent="0" marL="0">
              <a:buNone/>
            </a:pPr>
            <a:r>
              <a:rPr lang="en-US" sz="1200" dirty="0">
                <a:solidFill>
                  <a:schemeClr val="tx1"/>
                </a:solidFill>
              </a:rPr>
              <a:t>Cloud APIs and Kubernetes monitoring</a:t>
            </a:r>
            <a:endParaRPr lang="en-US" sz="1200" dirty="0"/>
          </a:p>
        </p:txBody>
      </p:sp>
      <p:sp>
        <p:nvSpPr>
          <p:cNvPr id="25" name="CORRELATED IN label"/>
          <p:cNvSpPr txBox="1"/>
          <p:nvPr/>
        </p:nvSpPr>
        <p:spPr>
          <a:xfrm>
            <a:off x="6397600"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CORRELATED IN</a:t>
            </a:r>
            <a:endParaRPr lang="en-US" sz="1200" dirty="0"/>
          </a:p>
        </p:txBody>
      </p:sp>
      <p:sp>
        <p:nvSpPr>
          <p:cNvPr id="26" name="DX O2 tile"/>
          <p:cNvSpPr/>
          <p:nvPr/>
        </p:nvSpPr>
        <p:spPr>
          <a:xfrm>
            <a:off x="6397600" y="2706624"/>
            <a:ext cx="2188845" cy="1737360"/>
          </a:xfrm>
          <a:prstGeom prst="roundRect">
            <a:avLst>
              <a:gd name="adj" fmla="val 6316"/>
            </a:avLst>
          </a:prstGeom>
          <a:solidFill>
            <a:schemeClr val="tx1"/>
          </a:solidFill>
          <a:ln/>
        </p:spPr>
      </p:sp>
      <p:sp>
        <p:nvSpPr>
          <p:cNvPr id="27" name="DX O2"/>
          <p:cNvSpPr txBox="1"/>
          <p:nvPr/>
        </p:nvSpPr>
        <p:spPr>
          <a:xfrm>
            <a:off x="6543904" y="2871216"/>
            <a:ext cx="1896237" cy="1417320"/>
          </a:xfrm>
          <a:prstGeom prst="rect">
            <a:avLst/>
          </a:prstGeom>
          <a:noFill/>
          <a:ln/>
        </p:spPr>
        <p:txBody>
          <a:bodyPr wrap="square" lIns="0" tIns="0" rIns="0" bIns="0" rtlCol="0" anchor="t"/>
          <a:lstStyle/>
          <a:p>
            <a:pPr indent="0" marL="0">
              <a:spcAft>
                <a:spcPts val="600"/>
              </a:spcAft>
              <a:buNone/>
            </a:pPr>
            <a:r>
              <a:rPr lang="en-US" sz="1400" b="1" dirty="0">
                <a:solidFill>
                  <a:schemeClr val="bg1"/>
                </a:solidFill>
              </a:rPr>
              <a:t>DX Operational Observability</a:t>
            </a:r>
            <a:endParaRPr lang="en-US" sz="1400" dirty="0"/>
          </a:p>
          <a:p>
            <a:pPr indent="0" marL="0">
              <a:buNone/>
            </a:pPr>
            <a:r>
              <a:rPr lang="en-US" sz="1200" dirty="0">
                <a:solidFill>
                  <a:schemeClr val="accent4"/>
                </a:solidFill>
              </a:rPr>
              <a:t>Topology, alarm correlation, service views for customer-facing apps</a:t>
            </a:r>
            <a:endParaRPr lang="en-US" sz="1400" dirty="0"/>
          </a:p>
        </p:txBody>
      </p:sp>
      <p:sp>
        <p:nvSpPr>
          <p:cNvPr id="28" name="ACTED ON BY label"/>
          <p:cNvSpPr txBox="1"/>
          <p:nvPr/>
        </p:nvSpPr>
        <p:spPr>
          <a:xfrm>
            <a:off x="9189949" y="2011680"/>
            <a:ext cx="2188845"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ACTED ON BY</a:t>
            </a:r>
            <a:endParaRPr lang="en-US" sz="1200" dirty="0"/>
          </a:p>
        </p:txBody>
      </p:sp>
      <p:sp>
        <p:nvSpPr>
          <p:cNvPr id="29" name="NOC tile"/>
          <p:cNvSpPr/>
          <p:nvPr/>
        </p:nvSpPr>
        <p:spPr>
          <a:xfrm>
            <a:off x="9189949" y="2377440"/>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30" name="NOC"/>
          <p:cNvSpPr txBox="1"/>
          <p:nvPr/>
        </p:nvSpPr>
        <p:spPr>
          <a:xfrm>
            <a:off x="9299677" y="2377440"/>
            <a:ext cx="1969389" cy="566928"/>
          </a:xfrm>
          <a:prstGeom prst="rect">
            <a:avLst/>
          </a:prstGeom>
          <a:noFill/>
          <a:ln/>
        </p:spPr>
        <p:txBody>
          <a:bodyPr wrap="square" lIns="0" tIns="0" rIns="0" bIns="0" rtlCol="0" anchor="ctr"/>
          <a:lstStyle/>
          <a:p>
            <a:pPr indent="0" marL="0">
              <a:buNone/>
            </a:pPr>
            <a:r>
              <a:rPr lang="en-US" sz="1200" dirty="0">
                <a:solidFill>
                  <a:schemeClr val="tx1"/>
                </a:solidFill>
              </a:rPr>
              <a:t>NOC and app teams</a:t>
            </a:r>
            <a:endParaRPr lang="en-US" sz="1200" dirty="0"/>
          </a:p>
        </p:txBody>
      </p:sp>
      <p:sp>
        <p:nvSpPr>
          <p:cNvPr id="31" name="ITSM tile"/>
          <p:cNvSpPr/>
          <p:nvPr/>
        </p:nvSpPr>
        <p:spPr>
          <a:xfrm>
            <a:off x="9189949" y="3035808"/>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32" name="ITSM"/>
          <p:cNvSpPr txBox="1"/>
          <p:nvPr/>
        </p:nvSpPr>
        <p:spPr>
          <a:xfrm>
            <a:off x="9299677" y="3035808"/>
            <a:ext cx="1969389" cy="566928"/>
          </a:xfrm>
          <a:prstGeom prst="rect">
            <a:avLst/>
          </a:prstGeom>
          <a:noFill/>
          <a:ln/>
        </p:spPr>
        <p:txBody>
          <a:bodyPr wrap="square" lIns="0" tIns="0" rIns="0" bIns="0" rtlCol="0" anchor="ctr"/>
          <a:lstStyle/>
          <a:p>
            <a:pPr indent="0" marL="0">
              <a:buNone/>
            </a:pPr>
            <a:r>
              <a:rPr lang="en-US" sz="1200" dirty="0">
                <a:solidFill>
                  <a:schemeClr val="tx1"/>
                </a:solidFill>
              </a:rPr>
              <a:t>ITSM (ServiceNow)</a:t>
            </a:r>
            <a:endParaRPr lang="en-US" sz="1200" dirty="0"/>
          </a:p>
        </p:txBody>
      </p:sp>
      <p:sp>
        <p:nvSpPr>
          <p:cNvPr id="33" name="Dashboards tile"/>
          <p:cNvSpPr/>
          <p:nvPr/>
        </p:nvSpPr>
        <p:spPr>
          <a:xfrm>
            <a:off x="9189949" y="3694176"/>
            <a:ext cx="2188845" cy="566928"/>
          </a:xfrm>
          <a:prstGeom prst="roundRect">
            <a:avLst>
              <a:gd name="adj" fmla="val 19355"/>
            </a:avLst>
          </a:prstGeom>
          <a:solidFill>
            <a:schemeClr val="bg1"/>
          </a:solidFill>
          <a:ln w="9525">
            <a:solidFill>
              <a:schemeClr val="accent5">
                <a:alpha val="35000"/>
              </a:schemeClr>
            </a:solidFill>
            <a:prstDash val="solid"/>
          </a:ln>
        </p:spPr>
      </p:sp>
      <p:sp>
        <p:nvSpPr>
          <p:cNvPr id="34" name="Dashboards"/>
          <p:cNvSpPr txBox="1"/>
          <p:nvPr/>
        </p:nvSpPr>
        <p:spPr>
          <a:xfrm>
            <a:off x="9299677" y="3694176"/>
            <a:ext cx="1969389" cy="566928"/>
          </a:xfrm>
          <a:prstGeom prst="rect">
            <a:avLst/>
          </a:prstGeom>
          <a:noFill/>
          <a:ln/>
        </p:spPr>
        <p:txBody>
          <a:bodyPr wrap="square" lIns="0" tIns="0" rIns="0" bIns="0" rtlCol="0" anchor="ctr"/>
          <a:lstStyle/>
          <a:p>
            <a:pPr indent="0" marL="0">
              <a:buNone/>
            </a:pPr>
            <a:r>
              <a:rPr lang="en-US" sz="1200" dirty="0">
                <a:solidFill>
                  <a:schemeClr val="tx1"/>
                </a:solidFill>
              </a:rPr>
              <a:t>Executive service dashboards</a:t>
            </a:r>
            <a:endParaRPr lang="en-US" sz="1200" dirty="0"/>
          </a:p>
        </p:txBody>
      </p:sp>
      <p:sp>
        <p:nvSpPr>
          <p:cNvPr id="35" name="Arrow 1"/>
          <p:cNvSpPr/>
          <p:nvPr/>
        </p:nvSpPr>
        <p:spPr>
          <a:xfrm>
            <a:off x="3111475" y="3520440"/>
            <a:ext cx="384048" cy="237744"/>
          </a:xfrm>
          <a:prstGeom prst="rightArrow">
            <a:avLst/>
          </a:prstGeom>
          <a:solidFill>
            <a:schemeClr val="accent2"/>
          </a:solidFill>
          <a:ln/>
        </p:spPr>
      </p:sp>
      <p:sp>
        <p:nvSpPr>
          <p:cNvPr id="36" name="Arrow 2"/>
          <p:cNvSpPr/>
          <p:nvPr/>
        </p:nvSpPr>
        <p:spPr>
          <a:xfrm>
            <a:off x="5903824" y="3520440"/>
            <a:ext cx="384048" cy="237744"/>
          </a:xfrm>
          <a:prstGeom prst="rightArrow">
            <a:avLst/>
          </a:prstGeom>
          <a:solidFill>
            <a:schemeClr val="accent2"/>
          </a:solidFill>
          <a:ln/>
        </p:spPr>
      </p:sp>
      <p:sp>
        <p:nvSpPr>
          <p:cNvPr id="37" name="Arrow 3"/>
          <p:cNvSpPr/>
          <p:nvPr/>
        </p:nvSpPr>
        <p:spPr>
          <a:xfrm>
            <a:off x="8696173" y="3520440"/>
            <a:ext cx="384048" cy="237744"/>
          </a:xfrm>
          <a:prstGeom prst="rightArrow">
            <a:avLst/>
          </a:prstGeom>
          <a:solidFill>
            <a:schemeClr val="accent2"/>
          </a:solidFill>
          <a:ln/>
        </p:spPr>
      </p:sp>
      <p:sp>
        <p:nvSpPr>
          <p:cNvPr id="38" name="LM terms label"/>
          <p:cNvSpPr txBox="1"/>
          <p:nvPr/>
        </p:nvSpPr>
        <p:spPr>
          <a:xfrm>
            <a:off x="812902" y="5230368"/>
            <a:ext cx="10565892" cy="274320"/>
          </a:xfrm>
          <a:prstGeom prst="rect">
            <a:avLst/>
          </a:prstGeom>
          <a:noFill/>
          <a:ln/>
        </p:spPr>
        <p:txBody>
          <a:bodyPr wrap="square" lIns="0" tIns="0" rIns="0" bIns="0" rtlCol="0" anchor="t"/>
          <a:lstStyle/>
          <a:p>
            <a:pPr indent="0" marL="0">
              <a:buNone/>
            </a:pPr>
            <a:r>
              <a:rPr lang="en-US" sz="1200" b="1" spc="300" kern="0" dirty="0">
                <a:solidFill>
                  <a:schemeClr val="accent2"/>
                </a:solidFill>
              </a:rPr>
              <a:t>IN LOGICMONITOR TERMS</a:t>
            </a:r>
            <a:endParaRPr lang="en-US" sz="1200" dirty="0"/>
          </a:p>
        </p:txBody>
      </p:sp>
      <p:sp>
        <p:nvSpPr>
          <p:cNvPr id="39" name="LM term 1"/>
          <p:cNvSpPr txBox="1"/>
          <p:nvPr/>
        </p:nvSpPr>
        <p:spPr>
          <a:xfrm>
            <a:off x="812902" y="5541264"/>
            <a:ext cx="2435733" cy="594360"/>
          </a:xfrm>
          <a:prstGeom prst="rect">
            <a:avLst/>
          </a:prstGeom>
          <a:noFill/>
          <a:ln/>
        </p:spPr>
        <p:txBody>
          <a:bodyPr wrap="square" lIns="0" tIns="0" rIns="0" bIns="0" rtlCol="0" anchor="t"/>
          <a:lstStyle/>
          <a:p>
            <a:pPr indent="0" marL="0">
              <a:buNone/>
            </a:pPr>
            <a:r>
              <a:rPr lang="en-US" sz="1300" dirty="0">
                <a:solidFill>
                  <a:schemeClr val="tx2"/>
                </a:solidFill>
              </a:rPr>
              <a:t>Hubs and robots → </a:t>
            </a:r>
            <a:pPr indent="0" marL="0">
              <a:buNone/>
            </a:pPr>
            <a:r>
              <a:rPr lang="en-US" sz="1300" b="1" dirty="0">
                <a:solidFill>
                  <a:schemeClr val="tx1"/>
                </a:solidFill>
              </a:rPr>
              <a:t>Collectors</a:t>
            </a:r>
            <a:pPr indent="0" marL="0">
              <a:buNone/>
            </a:pPr>
            <a:r>
              <a:rPr lang="en-US" sz="1300" dirty="0">
                <a:solidFill>
                  <a:schemeClr val="tx2"/>
                </a:solidFill>
              </a:rPr>
              <a:t> with auto-balanced groups</a:t>
            </a:r>
            <a:endParaRPr lang="en-US" sz="1300" dirty="0"/>
          </a:p>
        </p:txBody>
      </p:sp>
      <p:sp>
        <p:nvSpPr>
          <p:cNvPr id="40" name="LM term 2"/>
          <p:cNvSpPr txBox="1"/>
          <p:nvPr/>
        </p:nvSpPr>
        <p:spPr>
          <a:xfrm>
            <a:off x="3522955" y="5541264"/>
            <a:ext cx="2435733" cy="594360"/>
          </a:xfrm>
          <a:prstGeom prst="rect">
            <a:avLst/>
          </a:prstGeom>
          <a:noFill/>
          <a:ln/>
        </p:spPr>
        <p:txBody>
          <a:bodyPr wrap="square" lIns="0" tIns="0" rIns="0" bIns="0" rtlCol="0" anchor="t"/>
          <a:lstStyle/>
          <a:p>
            <a:pPr indent="0" marL="0">
              <a:buNone/>
            </a:pPr>
            <a:r>
              <a:rPr lang="en-US" sz="1300" dirty="0">
                <a:solidFill>
                  <a:schemeClr val="tx2"/>
                </a:solidFill>
              </a:rPr>
              <a:t>Probes and templates → </a:t>
            </a:r>
            <a:pPr indent="0" marL="0">
              <a:buNone/>
            </a:pPr>
            <a:r>
              <a:rPr lang="en-US" sz="1300" b="1" dirty="0">
                <a:solidFill>
                  <a:schemeClr val="tx1"/>
                </a:solidFill>
              </a:rPr>
              <a:t>LogicModules</a:t>
            </a:r>
            <a:pPr indent="0" marL="0">
              <a:buNone/>
            </a:pPr>
            <a:r>
              <a:rPr lang="en-US" sz="1300" dirty="0">
                <a:solidFill>
                  <a:schemeClr val="tx2"/>
                </a:solidFill>
              </a:rPr>
              <a:t> and AppliesTo</a:t>
            </a:r>
            <a:endParaRPr lang="en-US" sz="1300" dirty="0"/>
          </a:p>
        </p:txBody>
      </p:sp>
      <p:sp>
        <p:nvSpPr>
          <p:cNvPr id="41" name="LM term 3"/>
          <p:cNvSpPr txBox="1"/>
          <p:nvPr/>
        </p:nvSpPr>
        <p:spPr>
          <a:xfrm>
            <a:off x="6233008" y="5541264"/>
            <a:ext cx="2435733" cy="594360"/>
          </a:xfrm>
          <a:prstGeom prst="rect">
            <a:avLst/>
          </a:prstGeom>
          <a:noFill/>
          <a:ln/>
        </p:spPr>
        <p:txBody>
          <a:bodyPr wrap="square" lIns="0" tIns="0" rIns="0" bIns="0" rtlCol="0" anchor="t"/>
          <a:lstStyle/>
          <a:p>
            <a:pPr indent="0" marL="0">
              <a:buNone/>
            </a:pPr>
            <a:r>
              <a:rPr lang="en-US" sz="1300" dirty="0">
                <a:solidFill>
                  <a:schemeClr val="tx2"/>
                </a:solidFill>
              </a:rPr>
              <a:t>Fault isolation → </a:t>
            </a:r>
            <a:pPr indent="0" marL="0">
              <a:buNone/>
            </a:pPr>
            <a:r>
              <a:rPr lang="en-US" sz="1300" b="1" dirty="0">
                <a:solidFill>
                  <a:schemeClr val="tx1"/>
                </a:solidFill>
              </a:rPr>
              <a:t>topology</a:t>
            </a:r>
            <a:pPr indent="0" marL="0">
              <a:buNone/>
            </a:pPr>
            <a:r>
              <a:rPr lang="en-US" sz="1300" dirty="0">
                <a:solidFill>
                  <a:schemeClr val="tx2"/>
                </a:solidFill>
              </a:rPr>
              <a:t> and alert dependencies</a:t>
            </a:r>
            <a:endParaRPr lang="en-US" sz="1300" dirty="0"/>
          </a:p>
        </p:txBody>
      </p:sp>
      <p:sp>
        <p:nvSpPr>
          <p:cNvPr id="42" name="LM term 4"/>
          <p:cNvSpPr txBox="1"/>
          <p:nvPr/>
        </p:nvSpPr>
        <p:spPr>
          <a:xfrm>
            <a:off x="8943061" y="5541264"/>
            <a:ext cx="2435733" cy="594360"/>
          </a:xfrm>
          <a:prstGeom prst="rect">
            <a:avLst/>
          </a:prstGeom>
          <a:noFill/>
          <a:ln/>
        </p:spPr>
        <p:txBody>
          <a:bodyPr wrap="square" lIns="0" tIns="0" rIns="0" bIns="0" rtlCol="0" anchor="t"/>
          <a:lstStyle/>
          <a:p>
            <a:pPr indent="0" marL="0">
              <a:buNone/>
            </a:pPr>
            <a:r>
              <a:rPr lang="en-US" sz="1300" dirty="0">
                <a:solidFill>
                  <a:schemeClr val="tx2"/>
                </a:solidFill>
              </a:rPr>
              <a:t>Alarm correlation → </a:t>
            </a:r>
            <a:pPr indent="0" marL="0">
              <a:buNone/>
            </a:pPr>
            <a:r>
              <a:rPr lang="en-US" sz="1300" b="1" dirty="0">
                <a:solidFill>
                  <a:schemeClr val="tx1"/>
                </a:solidFill>
              </a:rPr>
              <a:t>Edwin AI</a:t>
            </a:r>
            <a:pPr indent="0" marL="0">
              <a:buNone/>
            </a:pPr>
            <a:r>
              <a:rPr lang="en-US" sz="1300" dirty="0">
                <a:solidFill>
                  <a:schemeClr val="tx2"/>
                </a:solidFill>
              </a:rPr>
              <a:t> insights</a:t>
            </a:r>
            <a:endParaRPr lang="en-US" sz="13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TECHNICAL EXPERIENCE · WHAT I BUILT IN LOGICMONITOR</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One environment, two audiences</a:t>
            </a:r>
            <a:endParaRPr lang="en-US" sz="3200" dirty="0"/>
          </a:p>
        </p:txBody>
      </p:sp>
      <p:sp>
        <p:nvSpPr>
          <p:cNvPr id="5" name="EXECUTIVE VIEW · OUTCOMES AND RISK card"/>
          <p:cNvSpPr/>
          <p:nvPr/>
        </p:nvSpPr>
        <p:spPr>
          <a:xfrm>
            <a:off x="812902" y="2011680"/>
            <a:ext cx="5145786" cy="3246120"/>
          </a:xfrm>
          <a:prstGeom prst="roundRect">
            <a:avLst>
              <a:gd name="adj" fmla="val 3380"/>
            </a:avLst>
          </a:prstGeom>
          <a:solidFill>
            <a:schemeClr val="tx1"/>
          </a:solidFill>
          <a:ln/>
        </p:spPr>
      </p:sp>
      <p:sp>
        <p:nvSpPr>
          <p:cNvPr id="6" name="EXECUTIVE VIEW · OUTCOMES AND RISK"/>
          <p:cNvSpPr txBox="1"/>
          <p:nvPr/>
        </p:nvSpPr>
        <p:spPr>
          <a:xfrm>
            <a:off x="1105510" y="2267712"/>
            <a:ext cx="4560570" cy="237744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1"/>
                </a:solidFill>
              </a:rPr>
              <a:t>EXECUTIVE VIEW · OUTCOMES AND RISK</a:t>
            </a:r>
            <a:endParaRPr lang="en-US" sz="1200" dirty="0"/>
          </a:p>
          <a:p>
            <a:pPr indent="0" marL="0">
              <a:spcAft>
                <a:spcPts val="1000"/>
              </a:spcAft>
              <a:buNone/>
            </a:pPr>
            <a:r>
              <a:rPr lang="en-US" sz="1800" b="1" dirty="0">
                <a:solidFill>
                  <a:schemeClr val="bg1"/>
                </a:solidFill>
              </a:rPr>
              <a:t>Can customers report outages, and how long are they waiting?</a:t>
            </a:r>
            <a:endParaRPr lang="en-US" sz="1200" dirty="0"/>
          </a:p>
          <a:p>
            <a:pPr marL="177800" indent="-177800">
              <a:spcAft>
                <a:spcPts val="600"/>
              </a:spcAft>
              <a:buSzPct val="100000"/>
              <a:buChar char="•"/>
            </a:pPr>
            <a:r>
              <a:rPr lang="en-US" sz="1400" dirty="0">
                <a:solidFill>
                  <a:schemeClr val="accent4"/>
                </a:solidFill>
              </a:rPr>
              <a:t>Customer journey available from 5 locations worldwide</a:t>
            </a:r>
            <a:endParaRPr lang="en-US" sz="1200" dirty="0"/>
          </a:p>
          <a:p>
            <a:pPr marL="177800" indent="-177800">
              <a:spcAft>
                <a:spcPts val="600"/>
              </a:spcAft>
              <a:buSzPct val="100000"/>
              <a:buChar char="•"/>
            </a:pPr>
            <a:r>
              <a:rPr lang="en-US" sz="1400" dirty="0">
                <a:solidFill>
                  <a:schemeClr val="accent4"/>
                </a:solidFill>
              </a:rPr>
              <a:t>Customers without power and open outages</a:t>
            </a:r>
            <a:endParaRPr lang="en-US" sz="1200" dirty="0"/>
          </a:p>
          <a:p>
            <a:pPr marL="177800" indent="-177800">
              <a:spcAft>
                <a:spcPts val="600"/>
              </a:spcAft>
              <a:buSzPct val="100000"/>
              <a:buChar char="•"/>
            </a:pPr>
            <a:r>
              <a:rPr lang="en-US" sz="1400" dirty="0">
                <a:solidFill>
                  <a:schemeClr val="accent4"/>
                </a:solidFill>
              </a:rPr>
              <a:t>Customers waiting for an estimate: the storm risk</a:t>
            </a:r>
            <a:endParaRPr lang="en-US" sz="1200" dirty="0"/>
          </a:p>
          <a:p>
            <a:pPr marL="177800" indent="-177800">
              <a:spcAft>
                <a:spcPts val="600"/>
              </a:spcAft>
              <a:buSzPct val="100000"/>
              <a:buChar char="•"/>
            </a:pPr>
            <a:r>
              <a:rPr lang="en-US" sz="1400" dirty="0">
                <a:solidFill>
                  <a:schemeClr val="accent4"/>
                </a:solidFill>
              </a:rPr>
              <a:t>Active alerts by severity</a:t>
            </a:r>
            <a:endParaRPr lang="en-US" sz="1200" dirty="0"/>
          </a:p>
        </p:txBody>
      </p:sp>
      <p:sp>
        <p:nvSpPr>
          <p:cNvPr id="7" name="EXECUTIVE VIEW · OUTCOMES AND RISK dashboard"/>
          <p:cNvSpPr txBox="1"/>
          <p:nvPr/>
        </p:nvSpPr>
        <p:spPr>
          <a:xfrm>
            <a:off x="1105510" y="4709160"/>
            <a:ext cx="4560570" cy="365760"/>
          </a:xfrm>
          <a:prstGeom prst="rect">
            <a:avLst/>
          </a:prstGeom>
          <a:noFill/>
          <a:ln/>
        </p:spPr>
        <p:txBody>
          <a:bodyPr wrap="square" lIns="0" tIns="0" rIns="0" bIns="0" rtlCol="0" anchor="b"/>
          <a:lstStyle/>
          <a:p>
            <a:pPr indent="0" marL="0">
              <a:buNone/>
            </a:pPr>
            <a:r>
              <a:rPr lang="en-US" sz="1300" dirty="0">
                <a:solidFill>
                  <a:schemeClr val="accent1"/>
                </a:solidFill>
              </a:rPr>
              <a:t>Live dashboard: Outage Reporter · Executive</a:t>
            </a:r>
            <a:endParaRPr lang="en-US" sz="1300" dirty="0"/>
          </a:p>
        </p:txBody>
      </p:sp>
      <p:sp>
        <p:nvSpPr>
          <p:cNvPr id="8" name="ENGINEER VIEW · OPERATIONS card"/>
          <p:cNvSpPr/>
          <p:nvPr/>
        </p:nvSpPr>
        <p:spPr>
          <a:xfrm>
            <a:off x="6233008" y="2011680"/>
            <a:ext cx="5145786" cy="3246120"/>
          </a:xfrm>
          <a:prstGeom prst="roundRect">
            <a:avLst>
              <a:gd name="adj" fmla="val 3380"/>
            </a:avLst>
          </a:prstGeom>
          <a:solidFill>
            <a:schemeClr val="bg1"/>
          </a:solidFill>
          <a:ln w="9525">
            <a:solidFill>
              <a:schemeClr val="accent5">
                <a:alpha val="35000"/>
              </a:schemeClr>
            </a:solidFill>
            <a:prstDash val="solid"/>
          </a:ln>
        </p:spPr>
      </p:sp>
      <p:sp>
        <p:nvSpPr>
          <p:cNvPr id="9" name="ENGINEER VIEW · OPERATIONS"/>
          <p:cNvSpPr txBox="1"/>
          <p:nvPr/>
        </p:nvSpPr>
        <p:spPr>
          <a:xfrm>
            <a:off x="6525616" y="2267712"/>
            <a:ext cx="4560570" cy="2377440"/>
          </a:xfrm>
          <a:prstGeom prst="rect">
            <a:avLst/>
          </a:prstGeom>
          <a:noFill/>
          <a:ln/>
        </p:spPr>
        <p:txBody>
          <a:bodyPr wrap="square" lIns="0" tIns="0" rIns="0" bIns="0" rtlCol="0" anchor="t"/>
          <a:lstStyle/>
          <a:p>
            <a:pPr indent="0" marL="0">
              <a:spcAft>
                <a:spcPts val="600"/>
              </a:spcAft>
              <a:buNone/>
            </a:pPr>
            <a:r>
              <a:rPr lang="en-US" sz="1200" b="1" spc="200" kern="0" dirty="0">
                <a:solidFill>
                  <a:schemeClr val="accent2"/>
                </a:solidFill>
              </a:rPr>
              <a:t>ENGINEER VIEW · OPERATIONS</a:t>
            </a:r>
            <a:endParaRPr lang="en-US" sz="1200" dirty="0"/>
          </a:p>
          <a:p>
            <a:pPr indent="0" marL="0">
              <a:spcAft>
                <a:spcPts val="1000"/>
              </a:spcAft>
              <a:buNone/>
            </a:pPr>
            <a:r>
              <a:rPr lang="en-US" sz="1800" b="1" dirty="0">
                <a:solidFill>
                  <a:schemeClr val="tx1"/>
                </a:solidFill>
              </a:rPr>
              <a:t>What is broken, where, and who has the ticket?</a:t>
            </a:r>
            <a:endParaRPr lang="en-US" sz="1200" dirty="0"/>
          </a:p>
          <a:p>
            <a:pPr marL="177800" indent="-177800">
              <a:spcAft>
                <a:spcPts val="600"/>
              </a:spcAft>
              <a:buSzPct val="100000"/>
              <a:buChar char="•"/>
            </a:pPr>
            <a:r>
              <a:rPr lang="en-US" sz="1400" dirty="0">
                <a:solidFill>
                  <a:schemeClr val="tx2"/>
                </a:solidFill>
              </a:rPr>
              <a:t>Latency, error rate and data-store health</a:t>
            </a:r>
            <a:endParaRPr lang="en-US" sz="1200" dirty="0"/>
          </a:p>
          <a:p>
            <a:pPr marL="177800" indent="-177800">
              <a:spcAft>
                <a:spcPts val="600"/>
              </a:spcAft>
              <a:buSzPct val="100000"/>
              <a:buChar char="•"/>
            </a:pPr>
            <a:r>
              <a:rPr lang="en-US" sz="1400" dirty="0">
                <a:solidFill>
                  <a:schemeClr val="tx2"/>
                </a:solidFill>
              </a:rPr>
              <a:t>JVM heap and GC, CPU, memory, disk</a:t>
            </a:r>
            <a:endParaRPr lang="en-US" sz="1200" dirty="0"/>
          </a:p>
          <a:p>
            <a:pPr marL="177800" indent="-177800">
              <a:spcAft>
                <a:spcPts val="600"/>
              </a:spcAft>
              <a:buSzPct val="100000"/>
              <a:buChar char="•"/>
            </a:pPr>
            <a:r>
              <a:rPr lang="en-US" sz="1400" dirty="0">
                <a:solidFill>
                  <a:schemeClr val="tx2"/>
                </a:solidFill>
              </a:rPr>
              <a:t>App logs on the same resource as the metrics</a:t>
            </a:r>
            <a:endParaRPr lang="en-US" sz="1200" dirty="0"/>
          </a:p>
          <a:p>
            <a:pPr marL="177800" indent="-177800">
              <a:spcAft>
                <a:spcPts val="600"/>
              </a:spcAft>
              <a:buSzPct val="100000"/>
              <a:buChar char="•"/>
            </a:pPr>
            <a:r>
              <a:rPr lang="en-US" sz="1400" dirty="0">
                <a:solidFill>
                  <a:schemeClr val="tx2"/>
                </a:solidFill>
              </a:rPr>
              <a:t>Alerts routed to on-call, one per cause</a:t>
            </a:r>
            <a:endParaRPr lang="en-US" sz="1200" dirty="0"/>
          </a:p>
        </p:txBody>
      </p:sp>
      <p:sp>
        <p:nvSpPr>
          <p:cNvPr id="10" name="ENGINEER VIEW · OPERATIONS dashboard"/>
          <p:cNvSpPr txBox="1"/>
          <p:nvPr/>
        </p:nvSpPr>
        <p:spPr>
          <a:xfrm>
            <a:off x="6525616" y="4709160"/>
            <a:ext cx="4560570" cy="365760"/>
          </a:xfrm>
          <a:prstGeom prst="rect">
            <a:avLst/>
          </a:prstGeom>
          <a:noFill/>
          <a:ln/>
        </p:spPr>
        <p:txBody>
          <a:bodyPr wrap="square" lIns="0" tIns="0" rIns="0" bIns="0" rtlCol="0" anchor="b"/>
          <a:lstStyle/>
          <a:p>
            <a:pPr indent="0" marL="0">
              <a:buNone/>
            </a:pPr>
            <a:r>
              <a:rPr lang="en-US" sz="1300" dirty="0">
                <a:solidFill>
                  <a:schemeClr val="accent2"/>
                </a:solidFill>
              </a:rPr>
              <a:t>Live dashboard: Outage Reporter · Engineer</a:t>
            </a:r>
            <a:endParaRPr lang="en-US" sz="1300" dirty="0"/>
          </a:p>
        </p:txBody>
      </p:sp>
      <p:sp>
        <p:nvSpPr>
          <p:cNvPr id="11" name="Build strip"/>
          <p:cNvSpPr/>
          <p:nvPr/>
        </p:nvSpPr>
        <p:spPr>
          <a:xfrm>
            <a:off x="812902" y="5486400"/>
            <a:ext cx="10565892" cy="658368"/>
          </a:xfrm>
          <a:prstGeom prst="roundRect">
            <a:avLst>
              <a:gd name="adj" fmla="val 16667"/>
            </a:avLst>
          </a:prstGeom>
          <a:solidFill>
            <a:schemeClr val="bg1"/>
          </a:solidFill>
          <a:ln w="9525">
            <a:solidFill>
              <a:schemeClr val="accent5">
                <a:alpha val="35000"/>
              </a:schemeClr>
            </a:solidFill>
            <a:prstDash val="solid"/>
          </a:ln>
        </p:spPr>
      </p:sp>
      <p:sp>
        <p:nvSpPr>
          <p:cNvPr id="12" name="Build strip label"/>
          <p:cNvSpPr txBox="1"/>
          <p:nvPr/>
        </p:nvSpPr>
        <p:spPr>
          <a:xfrm>
            <a:off x="1087222" y="5486400"/>
            <a:ext cx="3566160" cy="658368"/>
          </a:xfrm>
          <a:prstGeom prst="rect">
            <a:avLst/>
          </a:prstGeom>
          <a:noFill/>
          <a:ln/>
        </p:spPr>
        <p:txBody>
          <a:bodyPr wrap="square" lIns="0" tIns="0" rIns="0" bIns="0" rtlCol="0" anchor="ctr"/>
          <a:lstStyle/>
          <a:p>
            <a:pPr indent="0" marL="0">
              <a:buNone/>
            </a:pPr>
            <a:r>
              <a:rPr lang="en-US" sz="1200" b="1" spc="200" kern="0" dirty="0">
                <a:solidFill>
                  <a:schemeClr val="accent2"/>
                </a:solidFill>
              </a:rPr>
              <a:t>BUILT FROM A BLANK AWS ACCOUNT</a:t>
            </a:r>
            <a:endParaRPr lang="en-US" sz="1200" dirty="0"/>
          </a:p>
        </p:txBody>
      </p:sp>
      <p:sp>
        <p:nvSpPr>
          <p:cNvPr id="13" name="Build strip"/>
          <p:cNvSpPr txBox="1"/>
          <p:nvPr/>
        </p:nvSpPr>
        <p:spPr>
          <a:xfrm>
            <a:off x="4744822" y="5486400"/>
            <a:ext cx="6359652" cy="658368"/>
          </a:xfrm>
          <a:prstGeom prst="rect">
            <a:avLst/>
          </a:prstGeom>
          <a:noFill/>
          <a:ln/>
        </p:spPr>
        <p:txBody>
          <a:bodyPr wrap="square" lIns="0" tIns="0" rIns="0" bIns="0" rtlCol="0" anchor="ctr"/>
          <a:lstStyle/>
          <a:p>
            <a:pPr indent="0" marL="0">
              <a:buNone/>
            </a:pPr>
            <a:r>
              <a:rPr lang="en-US" sz="1300" dirty="0">
                <a:solidFill>
                  <a:schemeClr val="tx2"/>
                </a:solidFill>
              </a:rPr>
              <a:t>Deployed from code · Collector and read-only AWS role · SNMP, JMX and a Groovy DataSource · web check from 5 locations · LM Logs · alert routing</a:t>
            </a:r>
            <a:endParaRPr lang="en-US" sz="13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1"/>
                </a:solidFill>
              </a:rPr>
              <a:t>WHY I'M A STRONG HIRE</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bg1"/>
                </a:solidFill>
              </a:rPr>
              <a:t>I've done every part of this role</a:t>
            </a:r>
            <a:endParaRPr lang="en-US" sz="3200" dirty="0"/>
          </a:p>
        </p:txBody>
      </p:sp>
      <p:sp>
        <p:nvSpPr>
          <p:cNvPr id="5" name="Customer outcomes tile"/>
          <p:cNvSpPr/>
          <p:nvPr/>
        </p:nvSpPr>
        <p:spPr>
          <a:xfrm>
            <a:off x="812902" y="2011680"/>
            <a:ext cx="3383280" cy="1005840"/>
          </a:xfrm>
          <a:prstGeom prst="roundRect">
            <a:avLst>
              <a:gd name="adj" fmla="val 9091"/>
            </a:avLst>
          </a:prstGeom>
          <a:solidFill>
            <a:schemeClr val="accent6"/>
          </a:solidFill>
          <a:ln/>
        </p:spPr>
      </p:sp>
      <p:sp>
        <p:nvSpPr>
          <p:cNvPr id="6" name="Customer outcomes"/>
          <p:cNvSpPr txBox="1"/>
          <p:nvPr/>
        </p:nvSpPr>
        <p:spPr>
          <a:xfrm>
            <a:off x="995782" y="2139696"/>
            <a:ext cx="3017520"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Customer outcomes</a:t>
            </a:r>
            <a:endParaRPr lang="en-US" sz="1600" dirty="0"/>
          </a:p>
          <a:p>
            <a:pPr indent="0" marL="0">
              <a:buNone/>
            </a:pPr>
            <a:r>
              <a:rPr lang="en-US" sz="1200" dirty="0">
                <a:solidFill>
                  <a:schemeClr val="accent4"/>
                </a:solidFill>
              </a:rPr>
              <a:t>Adoption, renewal and expansion: $40M+ annual technical wins</a:t>
            </a:r>
            <a:endParaRPr lang="en-US" sz="1600" dirty="0"/>
          </a:p>
        </p:txBody>
      </p:sp>
      <p:sp>
        <p:nvSpPr>
          <p:cNvPr id="7" name="Observability depth tile"/>
          <p:cNvSpPr/>
          <p:nvPr/>
        </p:nvSpPr>
        <p:spPr>
          <a:xfrm>
            <a:off x="812902" y="3200400"/>
            <a:ext cx="3383280" cy="1005840"/>
          </a:xfrm>
          <a:prstGeom prst="roundRect">
            <a:avLst>
              <a:gd name="adj" fmla="val 9091"/>
            </a:avLst>
          </a:prstGeom>
          <a:solidFill>
            <a:schemeClr val="accent6"/>
          </a:solidFill>
          <a:ln/>
        </p:spPr>
      </p:sp>
      <p:sp>
        <p:nvSpPr>
          <p:cNvPr id="8" name="Observability depth"/>
          <p:cNvSpPr txBox="1"/>
          <p:nvPr/>
        </p:nvSpPr>
        <p:spPr>
          <a:xfrm>
            <a:off x="995782" y="3328416"/>
            <a:ext cx="3017520"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Observability depth</a:t>
            </a:r>
            <a:endParaRPr lang="en-US" sz="1600" dirty="0"/>
          </a:p>
          <a:p>
            <a:pPr indent="0" marL="0">
              <a:buNone/>
            </a:pPr>
            <a:r>
              <a:rPr lang="en-US" sz="1200" dirty="0">
                <a:solidFill>
                  <a:schemeClr val="accent4"/>
                </a:solidFill>
              </a:rPr>
              <a:t>I know the estates LogicMonitor replaces: 35% lower MTTR</a:t>
            </a:r>
            <a:endParaRPr lang="en-US" sz="1600" dirty="0"/>
          </a:p>
        </p:txBody>
      </p:sp>
      <p:sp>
        <p:nvSpPr>
          <p:cNvPr id="9" name="Agentic AI builder tile"/>
          <p:cNvSpPr/>
          <p:nvPr/>
        </p:nvSpPr>
        <p:spPr>
          <a:xfrm>
            <a:off x="812902" y="4389120"/>
            <a:ext cx="3383280" cy="1005840"/>
          </a:xfrm>
          <a:prstGeom prst="roundRect">
            <a:avLst>
              <a:gd name="adj" fmla="val 9091"/>
            </a:avLst>
          </a:prstGeom>
          <a:solidFill>
            <a:schemeClr val="accent6"/>
          </a:solidFill>
          <a:ln/>
        </p:spPr>
      </p:sp>
      <p:sp>
        <p:nvSpPr>
          <p:cNvPr id="10" name="Agentic AI builder"/>
          <p:cNvSpPr txBox="1"/>
          <p:nvPr/>
        </p:nvSpPr>
        <p:spPr>
          <a:xfrm>
            <a:off x="995782" y="4517136"/>
            <a:ext cx="3017520"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Agentic AI builder</a:t>
            </a:r>
            <a:endParaRPr lang="en-US" sz="1600" dirty="0"/>
          </a:p>
          <a:p>
            <a:pPr indent="0" marL="0">
              <a:buNone/>
            </a:pPr>
            <a:r>
              <a:rPr lang="en-US" sz="1200" dirty="0">
                <a:solidFill>
                  <a:schemeClr val="accent4"/>
                </a:solidFill>
              </a:rPr>
              <a:t>Ready to make Edwin AI real: 88% less alarm noise</a:t>
            </a:r>
            <a:endParaRPr lang="en-US" sz="1600" dirty="0"/>
          </a:p>
        </p:txBody>
      </p:sp>
      <p:sp>
        <p:nvSpPr>
          <p:cNvPr id="11" name="Role label"/>
          <p:cNvSpPr txBox="1"/>
          <p:nvPr/>
        </p:nvSpPr>
        <p:spPr>
          <a:xfrm>
            <a:off x="4561942" y="2011680"/>
            <a:ext cx="6816852"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ROLE, AS POSTED · WHERE I'VE DONE IT</a:t>
            </a:r>
            <a:endParaRPr lang="en-US" sz="1200" dirty="0"/>
          </a:p>
        </p:txBody>
      </p:sp>
      <p:graphicFrame>
        <p:nvGraphicFramePr>
          <p:cNvPr id="7" name="Role table"/>
          <p:cNvGraphicFramePr>
            <a:graphicFrameLocks noGrp="1"/>
          </p:cNvGraphicFramePr>
          <p:nvPr>
            <p:extLst>
              <p:ext uri="{D42A27DB-BD31-4B8C-83A1-F6EECF244321}">
                <p14:modId xmlns:p14="http://schemas.microsoft.com/office/powerpoint/2010/main" val="1579011935"/>
              </p:ext>
            </p:extLst>
          </p:nvPr>
        </p:nvGraphicFramePr>
        <p:xfrm>
          <a:off x="4561942" y="2377440"/>
          <a:ext cx="6816852" cy="914400"/>
        </p:xfrm>
        <a:graphic>
          <a:graphicData uri="http://schemas.openxmlformats.org/drawingml/2006/table">
            <a:tbl>
              <a:tblPr/>
              <a:tblGrid>
                <a:gridCol w="2590404"/>
                <a:gridCol w="4226448"/>
              </a:tblGrid>
              <a:tr h="329184">
                <a:tc>
                  <a:txBody>
                    <a:bodyPr/>
                    <a:lstStyle/>
                    <a:p>
                      <a:pPr indent="0" marL="0">
                        <a:buNone/>
                      </a:pPr>
                      <a:r>
                        <a:rPr lang="en-US" sz="1200" b="1" dirty="0">
                          <a:solidFill>
                            <a:schemeClr val="accent4"/>
                          </a:solidFill>
                        </a:rPr>
                        <a:t>Responsibility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b="1" dirty="0">
                          <a:solidFill>
                            <a:schemeClr val="accent4"/>
                          </a:solidFill>
                        </a:rPr>
                        <a:t>Proof</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Customer engagement</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Primary technical contact, Fortune 500</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Technical strategy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Business targets agreed before design</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Solution design</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VMware, Windows, Linux, SQL, K8s, AWS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Technical advisory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Migrations off UIM, DX and Dynatrace</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POCs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PoC-led wins with written success criteria</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Troubleshooting</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APM, infrastructure and network RCA</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Training</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Workshops; global developer program</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Feedback to product</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Field input to Scout AI strategy</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r h="329184">
                <a:tc>
                  <a:txBody>
                    <a:bodyPr/>
                    <a:lstStyle/>
                    <a:p>
                      <a:pPr indent="0" marL="0">
                        <a:buNone/>
                      </a:pPr>
                      <a:r>
                        <a:rPr lang="en-US" sz="1200" dirty="0">
                          <a:solidFill>
                            <a:schemeClr val="bg1"/>
                          </a:solidFill>
                        </a:rPr>
                        <a:t>Presentations, demos</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c>
                  <a:txBody>
                    <a:bodyPr/>
                    <a:lstStyle/>
                    <a:p>
                      <a:pPr indent="0" marL="0">
                        <a:buNone/>
                      </a:pPr>
                      <a:r>
                        <a:rPr lang="en-US" sz="1200" dirty="0">
                          <a:solidFill>
                            <a:schemeClr val="bg1"/>
                          </a:solidFill>
                        </a:rPr>
                        <a:t>This deck, and the live demo next</a:t>
                      </a:r>
                      <a:endParaRPr lang="en-US" sz="1200" dirty="0"/>
                    </a:p>
                  </a:txBody>
                  <a:tcPr marL="76200" marR="76200" marT="38100" marB="38100" anchor="ctr">
                    <a:lnL w="0" cap="flat" cmpd="sng" algn="ctr">
                      <a:noFill/>
                    </a:lnL>
                    <a:lnR w="0" cap="flat" cmpd="sng" algn="ctr">
                      <a:noFill/>
                    </a:lnR>
                    <a:lnT w="0" cap="flat" cmpd="sng" algn="ctr">
                      <a:noFill/>
                    </a:lnT>
                    <a:lnB w="9525" cap="flat" cmpd="sng" algn="ctr">
                      <a:solidFill>
                        <a:srgbClr val="6B748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812902" y="566928"/>
            <a:ext cx="10565892" cy="292608"/>
          </a:xfrm>
          <a:prstGeom prst="rect">
            <a:avLst/>
          </a:prstGeom>
          <a:noFill/>
          <a:ln/>
        </p:spPr>
        <p:txBody>
          <a:bodyPr wrap="square" lIns="0" tIns="0" rIns="0" bIns="0" rtlCol="0" anchor="t"/>
          <a:lstStyle/>
          <a:p>
            <a:pPr indent="0" marL="0">
              <a:buNone/>
            </a:pPr>
            <a:r>
              <a:rPr lang="en-US" sz="1200" b="1" spc="150" kern="0" dirty="0">
                <a:solidFill>
                  <a:schemeClr val="accent2"/>
                </a:solidFill>
              </a:rPr>
              <a:t>30-60-90 DAYS</a:t>
            </a:r>
            <a:endParaRPr lang="en-US" sz="1200" dirty="0"/>
          </a:p>
        </p:txBody>
      </p:sp>
      <p:sp>
        <p:nvSpPr>
          <p:cNvPr id="4" name="Text 0"/>
          <p:cNvSpPr/>
          <p:nvPr>
            <p:ph idx="101" type="title" hasCustomPrompt="1"/>
          </p:nvPr>
        </p:nvSpPr>
        <p:spPr>
          <a:xfrm>
            <a:off x="812902" y="868680"/>
            <a:ext cx="10565892" cy="960120"/>
          </a:xfrm>
          <a:prstGeom prst="rect">
            <a:avLst/>
          </a:prstGeom>
          <a:noFill/>
          <a:ln/>
        </p:spPr>
        <p:txBody>
          <a:bodyPr wrap="square" lIns="0" tIns="0" rIns="0" bIns="0" rtlCol="0" anchor="b"/>
          <a:lstStyle/>
          <a:p>
            <a:pPr algn="l" indent="0" marL="0">
              <a:buNone/>
            </a:pPr>
            <a:r>
              <a:rPr lang="en-US" sz="3200" b="1" dirty="0">
                <a:solidFill>
                  <a:schemeClr val="tx1"/>
                </a:solidFill>
              </a:rPr>
              <a:t>Learn, then contribute, then lead</a:t>
            </a:r>
            <a:endParaRPr lang="en-US" sz="3200" dirty="0"/>
          </a:p>
        </p:txBody>
      </p:sp>
      <p:sp>
        <p:nvSpPr>
          <p:cNvPr id="5" name="Learn card"/>
          <p:cNvSpPr/>
          <p:nvPr/>
        </p:nvSpPr>
        <p:spPr>
          <a:xfrm>
            <a:off x="812902" y="2011680"/>
            <a:ext cx="3339084" cy="3931920"/>
          </a:xfrm>
          <a:prstGeom prst="roundRect">
            <a:avLst>
              <a:gd name="adj" fmla="val 3286"/>
            </a:avLst>
          </a:prstGeom>
          <a:solidFill>
            <a:schemeClr val="bg1"/>
          </a:solidFill>
          <a:ln w="9525">
            <a:solidFill>
              <a:schemeClr val="accent5">
                <a:alpha val="35000"/>
              </a:schemeClr>
            </a:solidFill>
            <a:prstDash val="solid"/>
          </a:ln>
        </p:spPr>
      </p:sp>
      <p:sp>
        <p:nvSpPr>
          <p:cNvPr id="6" name="Learn"/>
          <p:cNvSpPr txBox="1"/>
          <p:nvPr/>
        </p:nvSpPr>
        <p:spPr>
          <a:xfrm>
            <a:off x="1068934" y="2267712"/>
            <a:ext cx="2827020" cy="2743200"/>
          </a:xfrm>
          <a:prstGeom prst="rect">
            <a:avLst/>
          </a:prstGeom>
          <a:noFill/>
          <a:ln/>
        </p:spPr>
        <p:txBody>
          <a:bodyPr wrap="square" lIns="0" tIns="0" rIns="0" bIns="0" rtlCol="0" anchor="t"/>
          <a:lstStyle/>
          <a:p>
            <a:pPr indent="0" marL="0">
              <a:spcAft>
                <a:spcPts val="400"/>
              </a:spcAft>
              <a:buNone/>
            </a:pPr>
            <a:r>
              <a:rPr lang="en-US" sz="1200" b="1" spc="200" kern="0" dirty="0">
                <a:solidFill>
                  <a:schemeClr val="accent2"/>
                </a:solidFill>
              </a:rPr>
              <a:t>DAYS 1–30</a:t>
            </a:r>
            <a:endParaRPr lang="en-US" sz="1200" dirty="0"/>
          </a:p>
          <a:p>
            <a:pPr indent="0" marL="0">
              <a:spcAft>
                <a:spcPts val="800"/>
              </a:spcAft>
              <a:buNone/>
            </a:pPr>
            <a:r>
              <a:rPr lang="en-US" sz="2000" b="1" dirty="0">
                <a:solidFill>
                  <a:schemeClr val="tx1"/>
                </a:solidFill>
              </a:rPr>
              <a:t>Learn</a:t>
            </a:r>
            <a:endParaRPr lang="en-US" sz="1200" dirty="0"/>
          </a:p>
          <a:p>
            <a:pPr marL="177800" indent="-177800">
              <a:spcAft>
                <a:spcPts val="500"/>
              </a:spcAft>
              <a:buSzPct val="100000"/>
              <a:buChar char="•"/>
            </a:pPr>
            <a:r>
              <a:rPr lang="en-US" sz="1300" dirty="0">
                <a:solidFill>
                  <a:schemeClr val="tx2"/>
                </a:solidFill>
              </a:rPr>
              <a:t>LogicMonitor certifications and Edwin AI training</a:t>
            </a:r>
            <a:endParaRPr lang="en-US" sz="1200" dirty="0"/>
          </a:p>
          <a:p>
            <a:pPr marL="177800" indent="-177800">
              <a:spcAft>
                <a:spcPts val="500"/>
              </a:spcAft>
              <a:buSzPct val="100000"/>
              <a:buChar char="•"/>
            </a:pPr>
            <a:r>
              <a:rPr lang="en-US" sz="1300" dirty="0">
                <a:solidFill>
                  <a:schemeClr val="tx2"/>
                </a:solidFill>
              </a:rPr>
              <a:t>Shadow senior CTAs on customer calls</a:t>
            </a:r>
            <a:endParaRPr lang="en-US" sz="1200" dirty="0"/>
          </a:p>
          <a:p>
            <a:pPr marL="177800" indent="-177800">
              <a:spcAft>
                <a:spcPts val="500"/>
              </a:spcAft>
              <a:buSzPct val="100000"/>
              <a:buChar char="•"/>
            </a:pPr>
            <a:r>
              <a:rPr lang="en-US" sz="1300" dirty="0">
                <a:solidFill>
                  <a:schemeClr val="tx2"/>
                </a:solidFill>
              </a:rPr>
              <a:t>Meet every assigned account; baseline health and KPIs</a:t>
            </a:r>
            <a:endParaRPr lang="en-US" sz="1200" dirty="0"/>
          </a:p>
          <a:p>
            <a:pPr marL="177800" indent="-177800">
              <a:spcAft>
                <a:spcPts val="500"/>
              </a:spcAft>
              <a:buSzPct val="100000"/>
              <a:buChar char="•"/>
            </a:pPr>
            <a:r>
              <a:rPr lang="en-US" sz="1300" dirty="0">
                <a:solidFill>
                  <a:schemeClr val="tx2"/>
                </a:solidFill>
              </a:rPr>
              <a:t>Learn the field playbooks and the PDE roadmap</a:t>
            </a:r>
            <a:endParaRPr lang="en-US" sz="1200" dirty="0"/>
          </a:p>
        </p:txBody>
      </p:sp>
      <p:sp>
        <p:nvSpPr>
          <p:cNvPr id="7" name="Learn measure"/>
          <p:cNvSpPr txBox="1"/>
          <p:nvPr/>
        </p:nvSpPr>
        <p:spPr>
          <a:xfrm>
            <a:off x="1068934" y="5230368"/>
            <a:ext cx="2827020" cy="502920"/>
          </a:xfrm>
          <a:prstGeom prst="rect">
            <a:avLst/>
          </a:prstGeom>
          <a:noFill/>
          <a:ln/>
        </p:spPr>
        <p:txBody>
          <a:bodyPr wrap="square" lIns="0" tIns="0" rIns="0" bIns="0" rtlCol="0" anchor="b"/>
          <a:lstStyle/>
          <a:p>
            <a:pPr indent="0" marL="0">
              <a:buNone/>
            </a:pPr>
            <a:r>
              <a:rPr lang="en-US" sz="1200" b="1" dirty="0">
                <a:solidFill>
                  <a:schemeClr val="tx1"/>
                </a:solidFill>
              </a:rPr>
              <a:t>Measured by: </a:t>
            </a:r>
            <a:pPr indent="0" marL="0">
              <a:buNone/>
            </a:pPr>
            <a:r>
              <a:rPr lang="en-US" sz="1200" dirty="0">
                <a:solidFill>
                  <a:schemeClr val="tx1"/>
                </a:solidFill>
              </a:rPr>
              <a:t>every account baselined</a:t>
            </a:r>
            <a:endParaRPr lang="en-US" sz="1200" dirty="0"/>
          </a:p>
        </p:txBody>
      </p:sp>
      <p:sp>
        <p:nvSpPr>
          <p:cNvPr id="8" name="Contribute card"/>
          <p:cNvSpPr/>
          <p:nvPr/>
        </p:nvSpPr>
        <p:spPr>
          <a:xfrm>
            <a:off x="4426306" y="2011680"/>
            <a:ext cx="3339084" cy="3931920"/>
          </a:xfrm>
          <a:prstGeom prst="roundRect">
            <a:avLst>
              <a:gd name="adj" fmla="val 3286"/>
            </a:avLst>
          </a:prstGeom>
          <a:solidFill>
            <a:schemeClr val="bg1"/>
          </a:solidFill>
          <a:ln w="9525">
            <a:solidFill>
              <a:schemeClr val="accent5">
                <a:alpha val="35000"/>
              </a:schemeClr>
            </a:solidFill>
            <a:prstDash val="solid"/>
          </a:ln>
        </p:spPr>
      </p:sp>
      <p:sp>
        <p:nvSpPr>
          <p:cNvPr id="9" name="Contribute"/>
          <p:cNvSpPr txBox="1"/>
          <p:nvPr/>
        </p:nvSpPr>
        <p:spPr>
          <a:xfrm>
            <a:off x="4682338" y="2267712"/>
            <a:ext cx="2827020" cy="2743200"/>
          </a:xfrm>
          <a:prstGeom prst="rect">
            <a:avLst/>
          </a:prstGeom>
          <a:noFill/>
          <a:ln/>
        </p:spPr>
        <p:txBody>
          <a:bodyPr wrap="square" lIns="0" tIns="0" rIns="0" bIns="0" rtlCol="0" anchor="t"/>
          <a:lstStyle/>
          <a:p>
            <a:pPr indent="0" marL="0">
              <a:spcAft>
                <a:spcPts val="400"/>
              </a:spcAft>
              <a:buNone/>
            </a:pPr>
            <a:r>
              <a:rPr lang="en-US" sz="1200" b="1" spc="200" kern="0" dirty="0">
                <a:solidFill>
                  <a:schemeClr val="accent2"/>
                </a:solidFill>
              </a:rPr>
              <a:t>DAYS 31–60</a:t>
            </a:r>
            <a:endParaRPr lang="en-US" sz="1200" dirty="0"/>
          </a:p>
          <a:p>
            <a:pPr indent="0" marL="0">
              <a:spcAft>
                <a:spcPts val="800"/>
              </a:spcAft>
              <a:buNone/>
            </a:pPr>
            <a:r>
              <a:rPr lang="en-US" sz="2000" b="1" dirty="0">
                <a:solidFill>
                  <a:schemeClr val="tx1"/>
                </a:solidFill>
              </a:rPr>
              <a:t>Contribute</a:t>
            </a:r>
            <a:endParaRPr lang="en-US" sz="1200" dirty="0"/>
          </a:p>
          <a:p>
            <a:pPr marL="177800" indent="-177800">
              <a:spcAft>
                <a:spcPts val="500"/>
              </a:spcAft>
              <a:buSzPct val="100000"/>
              <a:buChar char="•"/>
            </a:pPr>
            <a:r>
              <a:rPr lang="en-US" sz="1300" dirty="0">
                <a:solidFill>
                  <a:schemeClr val="tx2"/>
                </a:solidFill>
              </a:rPr>
              <a:t>Own day-to-day technical relationships</a:t>
            </a:r>
            <a:endParaRPr lang="en-US" sz="1200" dirty="0"/>
          </a:p>
          <a:p>
            <a:pPr marL="177800" indent="-177800">
              <a:spcAft>
                <a:spcPts val="500"/>
              </a:spcAft>
              <a:buSzPct val="100000"/>
              <a:buChar char="•"/>
            </a:pPr>
            <a:r>
              <a:rPr lang="en-US" sz="1300" dirty="0">
                <a:solidFill>
                  <a:schemeClr val="tx2"/>
                </a:solidFill>
              </a:rPr>
              <a:t>Agree a success plan with KPIs per account</a:t>
            </a:r>
            <a:endParaRPr lang="en-US" sz="1200" dirty="0"/>
          </a:p>
          <a:p>
            <a:pPr marL="177800" indent="-177800">
              <a:spcAft>
                <a:spcPts val="500"/>
              </a:spcAft>
              <a:buSzPct val="100000"/>
              <a:buChar char="•"/>
            </a:pPr>
            <a:r>
              <a:rPr lang="en-US" sz="1300" dirty="0">
                <a:solidFill>
                  <a:schemeClr val="tx2"/>
                </a:solidFill>
              </a:rPr>
              <a:t>Quick wins: critical services covered, noise tuned</a:t>
            </a:r>
            <a:endParaRPr lang="en-US" sz="1200" dirty="0"/>
          </a:p>
          <a:p>
            <a:pPr marL="177800" indent="-177800">
              <a:spcAft>
                <a:spcPts val="500"/>
              </a:spcAft>
              <a:buSzPct val="100000"/>
              <a:buChar char="•"/>
            </a:pPr>
            <a:r>
              <a:rPr lang="en-US" sz="1300" dirty="0">
                <a:solidFill>
                  <a:schemeClr val="tx2"/>
                </a:solidFill>
              </a:rPr>
              <a:t>Run a first best-practices workshop</a:t>
            </a:r>
            <a:endParaRPr lang="en-US" sz="1200" dirty="0"/>
          </a:p>
        </p:txBody>
      </p:sp>
      <p:sp>
        <p:nvSpPr>
          <p:cNvPr id="10" name="Contribute measure"/>
          <p:cNvSpPr txBox="1"/>
          <p:nvPr/>
        </p:nvSpPr>
        <p:spPr>
          <a:xfrm>
            <a:off x="4682338" y="5230368"/>
            <a:ext cx="2827020" cy="502920"/>
          </a:xfrm>
          <a:prstGeom prst="rect">
            <a:avLst/>
          </a:prstGeom>
          <a:noFill/>
          <a:ln/>
        </p:spPr>
        <p:txBody>
          <a:bodyPr wrap="square" lIns="0" tIns="0" rIns="0" bIns="0" rtlCol="0" anchor="b"/>
          <a:lstStyle/>
          <a:p>
            <a:pPr indent="0" marL="0">
              <a:buNone/>
            </a:pPr>
            <a:r>
              <a:rPr lang="en-US" sz="1200" b="1" dirty="0">
                <a:solidFill>
                  <a:schemeClr val="tx1"/>
                </a:solidFill>
              </a:rPr>
              <a:t>Measured by: </a:t>
            </a:r>
            <a:pPr indent="0" marL="0">
              <a:buNone/>
            </a:pPr>
            <a:r>
              <a:rPr lang="en-US" sz="1200" dirty="0">
                <a:solidFill>
                  <a:schemeClr val="tx1"/>
                </a:solidFill>
              </a:rPr>
              <a:t>success plans signed off</a:t>
            </a:r>
            <a:endParaRPr lang="en-US" sz="1200" dirty="0"/>
          </a:p>
        </p:txBody>
      </p:sp>
      <p:sp>
        <p:nvSpPr>
          <p:cNvPr id="11" name="Lead card"/>
          <p:cNvSpPr/>
          <p:nvPr/>
        </p:nvSpPr>
        <p:spPr>
          <a:xfrm>
            <a:off x="8039710" y="2011680"/>
            <a:ext cx="3339084" cy="3931920"/>
          </a:xfrm>
          <a:prstGeom prst="roundRect">
            <a:avLst>
              <a:gd name="adj" fmla="val 3286"/>
            </a:avLst>
          </a:prstGeom>
          <a:solidFill>
            <a:schemeClr val="tx1"/>
          </a:solidFill>
          <a:ln/>
        </p:spPr>
      </p:sp>
      <p:sp>
        <p:nvSpPr>
          <p:cNvPr id="12" name="Lead"/>
          <p:cNvSpPr txBox="1"/>
          <p:nvPr/>
        </p:nvSpPr>
        <p:spPr>
          <a:xfrm>
            <a:off x="8295742" y="2267712"/>
            <a:ext cx="2827020" cy="2743200"/>
          </a:xfrm>
          <a:prstGeom prst="rect">
            <a:avLst/>
          </a:prstGeom>
          <a:noFill/>
          <a:ln/>
        </p:spPr>
        <p:txBody>
          <a:bodyPr wrap="square" lIns="0" tIns="0" rIns="0" bIns="0" rtlCol="0" anchor="t"/>
          <a:lstStyle/>
          <a:p>
            <a:pPr indent="0" marL="0">
              <a:spcAft>
                <a:spcPts val="400"/>
              </a:spcAft>
              <a:buNone/>
            </a:pPr>
            <a:r>
              <a:rPr lang="en-US" sz="1200" b="1" spc="200" kern="0" dirty="0">
                <a:solidFill>
                  <a:schemeClr val="accent1"/>
                </a:solidFill>
              </a:rPr>
              <a:t>DAYS 61–90</a:t>
            </a:r>
            <a:endParaRPr lang="en-US" sz="1200" dirty="0"/>
          </a:p>
          <a:p>
            <a:pPr indent="0" marL="0">
              <a:spcAft>
                <a:spcPts val="800"/>
              </a:spcAft>
              <a:buNone/>
            </a:pPr>
            <a:r>
              <a:rPr lang="en-US" sz="2000" b="1" dirty="0">
                <a:solidFill>
                  <a:schemeClr val="bg1"/>
                </a:solidFill>
              </a:rPr>
              <a:t>Lead</a:t>
            </a:r>
            <a:endParaRPr lang="en-US" sz="1200" dirty="0"/>
          </a:p>
          <a:p>
            <a:pPr marL="177800" indent="-177800">
              <a:spcAft>
                <a:spcPts val="500"/>
              </a:spcAft>
              <a:buSzPct val="100000"/>
              <a:buChar char="•"/>
            </a:pPr>
            <a:r>
              <a:rPr lang="en-US" sz="1300" dirty="0">
                <a:solidFill>
                  <a:schemeClr val="accent4"/>
                </a:solidFill>
              </a:rPr>
              <a:t>Value reviews with customer leadership</a:t>
            </a:r>
            <a:endParaRPr lang="en-US" sz="1200" dirty="0"/>
          </a:p>
          <a:p>
            <a:pPr marL="177800" indent="-177800">
              <a:spcAft>
                <a:spcPts val="500"/>
              </a:spcAft>
              <a:buSzPct val="100000"/>
              <a:buChar char="•"/>
            </a:pPr>
            <a:r>
              <a:rPr lang="en-US" sz="1300" dirty="0">
                <a:solidFill>
                  <a:schemeClr val="accent4"/>
                </a:solidFill>
              </a:rPr>
              <a:t>POCs of new features, starting with Edwin AI</a:t>
            </a:r>
            <a:endParaRPr lang="en-US" sz="1200" dirty="0"/>
          </a:p>
          <a:p>
            <a:pPr marL="177800" indent="-177800">
              <a:spcAft>
                <a:spcPts val="500"/>
              </a:spcAft>
              <a:buSzPct val="100000"/>
              <a:buChar char="•"/>
            </a:pPr>
            <a:r>
              <a:rPr lang="en-US" sz="1300" dirty="0">
                <a:solidFill>
                  <a:schemeClr val="accent4"/>
                </a:solidFill>
              </a:rPr>
              <a:t>Customer needs into the PDE roadmap</a:t>
            </a:r>
            <a:endParaRPr lang="en-US" sz="1200" dirty="0"/>
          </a:p>
          <a:p>
            <a:pPr marL="177800" indent="-177800">
              <a:spcAft>
                <a:spcPts val="500"/>
              </a:spcAft>
              <a:buSzPct val="100000"/>
              <a:buChar char="•"/>
            </a:pPr>
            <a:r>
              <a:rPr lang="en-US" sz="1300" dirty="0">
                <a:solidFill>
                  <a:schemeClr val="accent4"/>
                </a:solidFill>
              </a:rPr>
              <a:t>Share a DX/UIM migration playbook</a:t>
            </a:r>
            <a:endParaRPr lang="en-US" sz="1200" dirty="0"/>
          </a:p>
        </p:txBody>
      </p:sp>
      <p:sp>
        <p:nvSpPr>
          <p:cNvPr id="13" name="Lead measure"/>
          <p:cNvSpPr txBox="1"/>
          <p:nvPr/>
        </p:nvSpPr>
        <p:spPr>
          <a:xfrm>
            <a:off x="8295742" y="5230368"/>
            <a:ext cx="2827020" cy="502920"/>
          </a:xfrm>
          <a:prstGeom prst="rect">
            <a:avLst/>
          </a:prstGeom>
          <a:noFill/>
          <a:ln/>
        </p:spPr>
        <p:txBody>
          <a:bodyPr wrap="square" lIns="0" tIns="0" rIns="0" bIns="0" rtlCol="0" anchor="b"/>
          <a:lstStyle/>
          <a:p>
            <a:pPr indent="0" marL="0">
              <a:buNone/>
            </a:pPr>
            <a:r>
              <a:rPr lang="en-US" sz="1200" b="1" dirty="0">
                <a:solidFill>
                  <a:schemeClr val="bg1"/>
                </a:solidFill>
              </a:rPr>
              <a:t>Measured by: </a:t>
            </a:r>
            <a:pPr indent="0" marL="0">
              <a:buNone/>
            </a:pPr>
            <a:r>
              <a:rPr lang="en-US" sz="1200" dirty="0">
                <a:solidFill>
                  <a:schemeClr val="bg1"/>
                </a:solidFill>
              </a:rPr>
              <a:t>KPI movement and expansion pipeline</a:t>
            </a:r>
            <a:endParaRPr lang="en-US" sz="1200" dirty="0"/>
          </a:p>
        </p:txBody>
      </p:sp>
      <p:sp>
        <p:nvSpPr>
          <p:cNvPr id="25" name="Slide Number Placeholder 0"/>
          <p:cNvSpPr>
            <a:spLocks noGrp="1"/>
          </p:cNvSpPr>
          <p:nvPr>
            <p:ph type="sldNum" sz="quarter" idx="4294967295"/>
          </p:nvPr>
        </p:nvSpPr>
        <p:spPr>
          <a:xfrm>
            <a:off x="10972800" y="6355080"/>
            <a:ext cx="405994"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CTA Navy">
  <a:themeElements>
    <a:clrScheme name="CTA Navy">
      <a:dk1>
        <a:srgbClr val="14233A"/>
      </a:dk1>
      <a:lt1>
        <a:srgbClr val="FCFBF8"/>
      </a:lt1>
      <a:dk2>
        <a:srgbClr val="46505E"/>
      </a:dk2>
      <a:lt2>
        <a:srgbClr val="F5F4EF"/>
      </a:lt2>
      <a:accent1>
        <a:srgbClr val="F08A3C"/>
      </a:accent1>
      <a:accent2>
        <a:srgbClr val="1F5BD6"/>
      </a:accent2>
      <a:accent3>
        <a:srgbClr val="B4530F"/>
      </a:accent3>
      <a:accent4>
        <a:srgbClr val="AEBBCB"/>
      </a:accent4>
      <a:accent5>
        <a:srgbClr val="6B7480"/>
      </a:accent5>
      <a:accent6>
        <a:srgbClr val="1E3150"/>
      </a:accent6>
      <a:hlink>
        <a:srgbClr val="1F5BD6"/>
      </a:hlink>
      <a:folHlink>
        <a:srgbClr val="6B7480"/>
      </a:folHlink>
    </a:clrScheme>
    <a:fontScheme name="CTA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Presentation – Dennis Katumalla</dc:title>
  <dc:subject>PptxGenJS Presentation</dc:subject>
  <dc:creator>Dennis Katumalla</dc:creator>
  <cp:lastModifiedBy>Dennis Katumalla</cp:lastModifiedBy>
  <cp:revision>1</cp:revision>
  <dcterms:created xsi:type="dcterms:W3CDTF">2026-10-17T17:16:43Z</dcterms:created>
  <dcterms:modified xsi:type="dcterms:W3CDTF">2026-10-17T17:16:43Z</dcterms:modified>
</cp:coreProperties>
</file>