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o I am" id="{176917e3-545e-6848-45d4-d7d2fd6125e7}">
          <p14:sldIdLst>
            <p14:sldId id="256"/>
          </p14:sldIdLst>
        </p14:section>
        <p14:section name="Customer experience" id="{9909e666-9c93-f69e-b82a-673999b0c186}">
          <p14:sldIdLst>
            <p14:sldId id="257"/>
            <p14:sldId id="258"/>
          </p14:sldIdLst>
        </p14:section>
        <p14:section name="Technical experience" id="{76e2dfe8-c4e4-a56f-842f-08e33d6510b5}">
          <p14:sldIdLst>
            <p14:sldId id="259"/>
            <p14:sldId id="260"/>
          </p14:sldIdLst>
        </p14:section>
        <p14:section name="Why me, and the first 90 days" id="{3e951956-208d-0587-8b28-ebd401bd6888}">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"I'm a hands-on AIOps and Observability practitioner. I started as a software engineer at Cap Gemini and Computer Associates, building expert systems, which was AI before it was mainstream. After a few years consulting on data management, I spent 16 years at CA, then Broadcom, as the lead technical architect on Fortune 500 accounts: about four years presales, then twelve focused on adoption and value realization.
The three numbers are what I'm proudest of. $40M+ is account-team ELA revenue where I was the lead architect, not a personal quota. For the last year I've been building agentic AIOps hands-on, which is why Edwin AI and Autonomous IT drew me to LogicMonitor.
Today: one customer story, the architecture behind it, the hands-on work I did on your platform, why I fit this role, and my first 90 days. Then I'll show you the environment I built and monitored with LogicMonitor."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for this slide and the next together.
"The engagement I want to walk you through ran for over two years at a Fortune 500 electric utility with millions of customers across several states. They were running Dynatrace. The business wanted to consolidate tools and lower cost, get broader coverage across network, infrastructure and legacy systems, and above all keep outage reporting reliable during hurricane season, when customers depend on it most.
I was the technical lead from evaluation through implementation. [Team and what I owned.]
Three kinds of risk. Technical: 5,000+ agents to migrate across application, infrastructure and network. Political: I was leading the displacement of a tool that teams had built their workflows around. [Who resisted, and how I won them over.] Timing: change freezes during hurricane season limit when you can cut anything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"I ruled out a big-bang swap. I planned the migration in waves, ran both tools in parallel so nobody lost visibility, and I only signed off a wave once it reached parity on the alerts and dashboards that mattered. [The hardest technical issue, and how I fixed it.] [A moment something broke, and how I restored it.] The whole time I was also covering [other accounts]; I kept them going by [method].
The result was [tools retired, savings, MTTR or incident change], and the account [renewed / expanded]."
Then: "Happy to go deeper on any part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Left to right: what I scoped, how it was collected, where it was correlated, who acted on it.
"I designed this target architecture. I prioritised the customer-facing apps, because outage reporting is what customers see during a storm. I put DX APM on those apps, UIM across the data centers and NetOps on fault isolation across the network, and I extended coverage to Kubernetes and AWS. I fed everything into DX Operational Observability for topology, correlation and service views, then into the NOC, ITSM and executive dashboards."
Bottom row: "In LogicMonitor terms, hubs and robots become Collector groups, probes become LogicModules driven by AppliesTo, NetOps fault isolation becomes topology and alert dependencies, and alarm correlation becomes Edwin AI. That's the mapping I'd use for a customer moving off UIM or DX."
Trade-offs, if asked: agent vs agentless in restricted zones, polling intervals, SNMPv3 vs v2c, data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then switch to the demo.
"I built a small version of the service from my customer story, a utility's outage-reporting site, from a blank AWS account, and I monitored it in LogicMonitor end to end. I deployed the VM and app from code, installed a Collector, connected AWS with a read-only role, and wrote a Groovy DataSource that turns the app's health into technical and business metrics.
The same environment serves two audiences, so I built two dashboards. An executive asks about outcomes and risk: can customers report an outage, how many are without power, and how long are they waiting for an estimate. An engineer asks what's broken, where, and who has the ticket: latency, errors, the JVM, the OS, the logs, and alerts routed to on-call with one alert per cause.
Let me show you, starting with the executive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60–75 seconds.
"Three reasons. Customer outcomes: post-sale adoption and expansion has been my job for twelve years, and my measures were technical wins, adoption and renewals. Observability depth: many of LogicMonitor's new customers are migrating off the tools I spent sixteen years with, so I know where the problems hide in those migrations. And agentic AI: for the past year I've been building multi-agent AIOps hands-on, with governance controls, which is the closed-loop direction of Edwin AI and Autonomous IT.
On the right is the role as posted. I've done each of these, and I'm happy to go deeper on any row."
Detail for any row: POCs (success criteria written up front), technical advisory (the migration mapping on slide 4), feedback to product (turning field input into Scout AI's product strategy), training (the global developer culture program I founded).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"First 30 days I'm learning: certifications, Edwin AI, shadowing your senior CTAs, and meeting every account I'm given so I have a health and KPI baseline. Days 31 to 60 I own the day-to-day technical relationships, agree a success plan with measurable KPIs on each account, land quick wins like critical services monitored and noise tuned, and run my first best-practices workshop. By 90 days I'm running value reviews with customer leadership, running POCs of new features with customers, starting with Edwin AI, feeding what I hear into the PDE roadmap, and I've shared something reusable with the team. A DX or UIM migration playbook is the obvious one for me."
Then ask: "What would you want to see from me at 90 days?"
Transition: "Let me show you what I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812902" y="868680"/>
            <a:ext cx="10565892" cy="9601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Footer"/>
          <p:cNvSpPr txBox="1"/>
          <p:nvPr/>
        </p:nvSpPr>
        <p:spPr>
          <a:xfrm>
            <a:off x="812902" y="635508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Dennis Katumalla · Sr. Customer Technical Architect</a:t>
            </a:r>
            <a:endParaRPr lang="en-US" sz="11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868680"/>
            <a:ext cx="10565892"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Footer"/>
          <p:cNvSpPr txBox="1"/>
          <p:nvPr/>
        </p:nvSpPr>
        <p:spPr>
          <a:xfrm>
            <a:off x="812902" y="6355080"/>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Dennis Katumalla · Sr. Customer Technical Architect</a:t>
            </a:r>
            <a:endParaRPr lang="en-US" sz="11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896112"/>
            <a:ext cx="10565892" cy="7772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SR. CUSTOMER TECHNICAL ARCHITECT · FINAL ROUND</a:t>
            </a:r>
            <a:endParaRPr lang="en-US" sz="1200" dirty="0"/>
          </a:p>
        </p:txBody>
      </p:sp>
      <p:sp>
        <p:nvSpPr>
          <p:cNvPr id="4" name="Text 0"/>
          <p:cNvSpPr/>
          <p:nvPr>
            <p:ph idx="101" type="title" hasCustomPrompt="1"/>
          </p:nvPr>
        </p:nvSpPr>
        <p:spPr>
          <a:xfrm>
            <a:off x="812902" y="896112"/>
            <a:ext cx="10565892" cy="777240"/>
          </a:xfrm>
          <a:prstGeom prst="rect">
            <a:avLst/>
          </a:prstGeom>
          <a:noFill/>
          <a:ln/>
        </p:spPr>
        <p:txBody>
          <a:bodyPr wrap="square" lIns="0" tIns="0" rIns="0" bIns="0" rtlCol="0" anchor="t"/>
          <a:lstStyle/>
          <a:p>
            <a:pPr algn="l" indent="0" marL="0">
              <a:buNone/>
            </a:pPr>
            <a:r>
              <a:rPr lang="en-US" sz="4800" b="1" dirty="0">
                <a:solidFill>
                  <a:schemeClr val="bg1"/>
                </a:solidFill>
              </a:rPr>
              <a:t>Dennis Katumalla</a:t>
            </a:r>
            <a:endParaRPr lang="en-US" sz="4800" dirty="0"/>
          </a:p>
        </p:txBody>
      </p:sp>
      <p:sp>
        <p:nvSpPr>
          <p:cNvPr id="5" name="Positioning"/>
          <p:cNvSpPr txBox="1"/>
          <p:nvPr/>
        </p:nvSpPr>
        <p:spPr>
          <a:xfrm>
            <a:off x="812902" y="1783080"/>
            <a:ext cx="9326880" cy="1097280"/>
          </a:xfrm>
          <a:prstGeom prst="rect">
            <a:avLst/>
          </a:prstGeom>
          <a:noFill/>
          <a:ln/>
        </p:spPr>
        <p:txBody>
          <a:bodyPr wrap="square" lIns="0" tIns="0" rIns="0" bIns="0" rtlCol="0" anchor="t"/>
          <a:lstStyle/>
          <a:p>
            <a:pPr indent="0" marL="0">
              <a:spcAft>
                <a:spcPts val="800"/>
              </a:spcAft>
              <a:buNone/>
            </a:pPr>
            <a:r>
              <a:rPr lang="en-US" sz="2000" dirty="0">
                <a:solidFill>
                  <a:schemeClr val="accent4"/>
                </a:solidFill>
              </a:rPr>
              <a:t>Hands-on AIOps and Observability architect. 16 years making enterprise monitoring deliver measurable outcomes for Fortune 500 customers.</a:t>
            </a:r>
            <a:endParaRPr lang="en-US" sz="2000" dirty="0"/>
          </a:p>
          <a:p>
            <a:pPr indent="0" marL="0">
              <a:buNone/>
            </a:pPr>
            <a:r>
              <a:rPr lang="en-US" sz="1200" dirty="0">
                <a:solidFill>
                  <a:schemeClr val="accent5"/>
                </a:solidFill>
              </a:rPr>
              <a:t>M.S. Computer Science, University of Iowa · PMP · AWS AIOps Professional · AI Governance and Strategy (Wharton)</a:t>
            </a:r>
            <a:endParaRPr lang="en-US" sz="2000" dirty="0"/>
          </a:p>
        </p:txBody>
      </p:sp>
      <p:sp>
        <p:nvSpPr>
          <p:cNvPr id="6" name="Stat 1"/>
          <p:cNvSpPr txBox="1"/>
          <p:nvPr/>
        </p:nvSpPr>
        <p:spPr>
          <a:xfrm>
            <a:off x="812902" y="324612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$40M+</a:t>
            </a:r>
            <a:endParaRPr lang="en-US" sz="3600" dirty="0"/>
          </a:p>
          <a:p>
            <a:pPr indent="0" marL="0">
              <a:buNone/>
            </a:pPr>
            <a:r>
              <a:rPr lang="en-US" sz="1200" dirty="0">
                <a:solidFill>
                  <a:schemeClr val="accent4"/>
                </a:solidFill>
              </a:rPr>
              <a:t>Annual technical wins as lead architect (account-team ELA revenue)</a:t>
            </a:r>
            <a:endParaRPr lang="en-US" sz="3600" dirty="0"/>
          </a:p>
        </p:txBody>
      </p:sp>
      <p:sp>
        <p:nvSpPr>
          <p:cNvPr id="7" name="Stat 2"/>
          <p:cNvSpPr txBox="1"/>
          <p:nvPr/>
        </p:nvSpPr>
        <p:spPr>
          <a:xfrm>
            <a:off x="4426306" y="324612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35%</a:t>
            </a:r>
            <a:endParaRPr lang="en-US" sz="3600" dirty="0"/>
          </a:p>
          <a:p>
            <a:pPr indent="0" marL="0">
              <a:buNone/>
            </a:pPr>
            <a:r>
              <a:rPr lang="en-US" sz="1200" dirty="0">
                <a:solidFill>
                  <a:schemeClr val="accent4"/>
                </a:solidFill>
              </a:rPr>
              <a:t>Lower MTTR with AI-driven event correlation</a:t>
            </a:r>
            <a:endParaRPr lang="en-US" sz="3600" dirty="0"/>
          </a:p>
        </p:txBody>
      </p:sp>
      <p:sp>
        <p:nvSpPr>
          <p:cNvPr id="8" name="Stat 3"/>
          <p:cNvSpPr txBox="1"/>
          <p:nvPr/>
        </p:nvSpPr>
        <p:spPr>
          <a:xfrm>
            <a:off x="8039710" y="324612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88%</a:t>
            </a:r>
            <a:endParaRPr lang="en-US" sz="3600" dirty="0"/>
          </a:p>
          <a:p>
            <a:pPr indent="0" marL="0">
              <a:buNone/>
            </a:pPr>
            <a:r>
              <a:rPr lang="en-US" sz="1200" dirty="0">
                <a:solidFill>
                  <a:schemeClr val="accent4"/>
                </a:solidFill>
              </a:rPr>
              <a:t>Less alarm noise with GenAI incident automation</a:t>
            </a:r>
            <a:endParaRPr lang="en-US" sz="3600" dirty="0"/>
          </a:p>
        </p:txBody>
      </p:sp>
      <p:sp>
        <p:nvSpPr>
          <p:cNvPr id="9" name="Career 1"/>
          <p:cNvSpPr/>
          <p:nvPr/>
        </p:nvSpPr>
        <p:spPr>
          <a:xfrm>
            <a:off x="812902" y="4846320"/>
            <a:ext cx="2025396" cy="1005840"/>
          </a:xfrm>
          <a:prstGeom prst="roundRect">
            <a:avLst>
              <a:gd name="adj" fmla="val 9091"/>
            </a:avLst>
          </a:prstGeom>
          <a:solidFill>
            <a:schemeClr val="accent6"/>
          </a:solidFill>
          <a:ln/>
        </p:spPr>
      </p:sp>
      <p:sp>
        <p:nvSpPr>
          <p:cNvPr id="10" name="Career 1 text"/>
          <p:cNvSpPr txBox="1"/>
          <p:nvPr/>
        </p:nvSpPr>
        <p:spPr>
          <a:xfrm>
            <a:off x="940918" y="4956048"/>
            <a:ext cx="1769364" cy="82296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rPr>
              <a:t>1994–1996</a:t>
            </a:r>
            <a:endParaRPr lang="en-US" sz="1200" dirty="0"/>
          </a:p>
          <a:p>
            <a:pPr indent="0" marL="0">
              <a:buNone/>
            </a:pPr>
            <a:r>
              <a:rPr lang="en-US" sz="1200" dirty="0">
                <a:solidFill>
                  <a:schemeClr val="bg1"/>
                </a:solidFill>
              </a:rPr>
              <a:t>Cap Gemini · software consultant</a:t>
            </a:r>
            <a:endParaRPr lang="en-US" sz="1200" dirty="0"/>
          </a:p>
        </p:txBody>
      </p:sp>
      <p:sp>
        <p:nvSpPr>
          <p:cNvPr id="11" name="Career 2"/>
          <p:cNvSpPr/>
          <p:nvPr/>
        </p:nvSpPr>
        <p:spPr>
          <a:xfrm>
            <a:off x="2948026" y="4846320"/>
            <a:ext cx="2025396" cy="1005840"/>
          </a:xfrm>
          <a:prstGeom prst="roundRect">
            <a:avLst>
              <a:gd name="adj" fmla="val 9091"/>
            </a:avLst>
          </a:prstGeom>
          <a:solidFill>
            <a:schemeClr val="accent6"/>
          </a:solidFill>
          <a:ln/>
        </p:spPr>
      </p:sp>
      <p:sp>
        <p:nvSpPr>
          <p:cNvPr id="12" name="Career 2 text"/>
          <p:cNvSpPr txBox="1"/>
          <p:nvPr/>
        </p:nvSpPr>
        <p:spPr>
          <a:xfrm>
            <a:off x="3076042" y="4956048"/>
            <a:ext cx="1769364" cy="82296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rPr>
              <a:t>1996–2005</a:t>
            </a:r>
            <a:endParaRPr lang="en-US" sz="1200" dirty="0"/>
          </a:p>
          <a:p>
            <a:pPr indent="0" marL="0">
              <a:buNone/>
            </a:pPr>
            <a:r>
              <a:rPr lang="en-US" sz="1200" dirty="0">
                <a:solidFill>
                  <a:schemeClr val="bg1"/>
                </a:solidFill>
              </a:rPr>
              <a:t>Computer Associates · tech lead, expert systems</a:t>
            </a:r>
            <a:endParaRPr lang="en-US" sz="1200" dirty="0"/>
          </a:p>
        </p:txBody>
      </p:sp>
      <p:sp>
        <p:nvSpPr>
          <p:cNvPr id="13" name="Career 3"/>
          <p:cNvSpPr/>
          <p:nvPr/>
        </p:nvSpPr>
        <p:spPr>
          <a:xfrm>
            <a:off x="5083150" y="4846320"/>
            <a:ext cx="2025396" cy="1005840"/>
          </a:xfrm>
          <a:prstGeom prst="roundRect">
            <a:avLst>
              <a:gd name="adj" fmla="val 9091"/>
            </a:avLst>
          </a:prstGeom>
          <a:solidFill>
            <a:schemeClr val="accent6"/>
          </a:solidFill>
          <a:ln/>
        </p:spPr>
      </p:sp>
      <p:sp>
        <p:nvSpPr>
          <p:cNvPr id="14" name="Career 3 text"/>
          <p:cNvSpPr txBox="1"/>
          <p:nvPr/>
        </p:nvSpPr>
        <p:spPr>
          <a:xfrm>
            <a:off x="5211166" y="4956048"/>
            <a:ext cx="1769364" cy="82296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rPr>
              <a:t>2005–2009</a:t>
            </a:r>
            <a:endParaRPr lang="en-US" sz="1200" dirty="0"/>
          </a:p>
          <a:p>
            <a:pPr indent="0" marL="0">
              <a:buNone/>
            </a:pPr>
            <a:r>
              <a:rPr lang="en-US" sz="1200" dirty="0">
                <a:solidFill>
                  <a:schemeClr val="bg1"/>
                </a:solidFill>
              </a:rPr>
              <a:t>Consulting · data management, SOA</a:t>
            </a:r>
            <a:endParaRPr lang="en-US" sz="1200" dirty="0"/>
          </a:p>
        </p:txBody>
      </p:sp>
      <p:sp>
        <p:nvSpPr>
          <p:cNvPr id="15" name="Career 4"/>
          <p:cNvSpPr/>
          <p:nvPr/>
        </p:nvSpPr>
        <p:spPr>
          <a:xfrm>
            <a:off x="7218274" y="4846320"/>
            <a:ext cx="2025396" cy="1005840"/>
          </a:xfrm>
          <a:prstGeom prst="roundRect">
            <a:avLst>
              <a:gd name="adj" fmla="val 9091"/>
            </a:avLst>
          </a:prstGeom>
          <a:solidFill>
            <a:schemeClr val="accent6"/>
          </a:solidFill>
          <a:ln/>
        </p:spPr>
      </p:sp>
      <p:sp>
        <p:nvSpPr>
          <p:cNvPr id="16" name="Career 4 text"/>
          <p:cNvSpPr txBox="1"/>
          <p:nvPr/>
        </p:nvSpPr>
        <p:spPr>
          <a:xfrm>
            <a:off x="7346290" y="4956048"/>
            <a:ext cx="1769364" cy="82296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rPr>
              <a:t>2009–2025</a:t>
            </a:r>
            <a:endParaRPr lang="en-US" sz="1200" dirty="0"/>
          </a:p>
          <a:p>
            <a:pPr indent="0" marL="0">
              <a:buNone/>
            </a:pPr>
            <a:r>
              <a:rPr lang="en-US" sz="1200" dirty="0">
                <a:solidFill>
                  <a:schemeClr val="bg1"/>
                </a:solidFill>
              </a:rPr>
              <a:t>CA → Broadcom · AIOps architect</a:t>
            </a:r>
            <a:endParaRPr lang="en-US" sz="1200" dirty="0"/>
          </a:p>
        </p:txBody>
      </p:sp>
      <p:sp>
        <p:nvSpPr>
          <p:cNvPr id="17" name="Career 5"/>
          <p:cNvSpPr/>
          <p:nvPr/>
        </p:nvSpPr>
        <p:spPr>
          <a:xfrm>
            <a:off x="9353398" y="4846320"/>
            <a:ext cx="2025396" cy="1005840"/>
          </a:xfrm>
          <a:prstGeom prst="roundRect">
            <a:avLst>
              <a:gd name="adj" fmla="val 9091"/>
            </a:avLst>
          </a:prstGeom>
          <a:solidFill>
            <a:schemeClr val="accent6"/>
          </a:solidFill>
          <a:ln/>
        </p:spPr>
      </p:sp>
      <p:sp>
        <p:nvSpPr>
          <p:cNvPr id="18" name="Career 5 text"/>
          <p:cNvSpPr txBox="1"/>
          <p:nvPr/>
        </p:nvSpPr>
        <p:spPr>
          <a:xfrm>
            <a:off x="9481414" y="4956048"/>
            <a:ext cx="1769364" cy="82296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rPr>
              <a:t>2025–now</a:t>
            </a:r>
            <a:endParaRPr lang="en-US" sz="1200" dirty="0"/>
          </a:p>
          <a:p>
            <a:pPr indent="0" marL="0">
              <a:buNone/>
            </a:pPr>
            <a:r>
              <a:rPr lang="en-US" sz="1200" dirty="0">
                <a:solidFill>
                  <a:schemeClr val="bg1"/>
                </a:solidFill>
              </a:rPr>
              <a:t>Candsillon · agentic AIOps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CUSTOMER EXPERIENCE · THE CHALLENGE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Replace the incumbent APM platform at a Fortune 500 utility, without risking storm season</a:t>
            </a:r>
            <a:endParaRPr lang="en-US" sz="3200" dirty="0"/>
          </a:p>
        </p:txBody>
      </p:sp>
      <p:sp>
        <p:nvSpPr>
          <p:cNvPr id="5" name="The goal card"/>
          <p:cNvSpPr/>
          <p:nvPr/>
        </p:nvSpPr>
        <p:spPr>
          <a:xfrm>
            <a:off x="812902"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6" name="The goal"/>
          <p:cNvSpPr txBox="1"/>
          <p:nvPr/>
        </p:nvSpPr>
        <p:spPr>
          <a:xfrm>
            <a:off x="1087222"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The goal</a:t>
            </a:r>
            <a:endParaRPr lang="en-US" sz="2000" dirty="0"/>
          </a:p>
          <a:p>
            <a:pPr indent="0" marL="0">
              <a:buNone/>
            </a:pPr>
            <a:r>
              <a:rPr lang="en-US" sz="1500" dirty="0">
                <a:solidFill>
                  <a:schemeClr val="tx2"/>
                </a:solidFill>
              </a:rPr>
              <a:t>Consolidate tools onto one platform: lower cost, coverage across network, infrastructure and legacy systems, and reliable outage reporting for millions of customers.</a:t>
            </a:r>
            <a:endParaRPr lang="en-US" sz="2000" dirty="0"/>
          </a:p>
        </p:txBody>
      </p:sp>
      <p:sp>
        <p:nvSpPr>
          <p:cNvPr id="7" name="My role card"/>
          <p:cNvSpPr/>
          <p:nvPr/>
        </p:nvSpPr>
        <p:spPr>
          <a:xfrm>
            <a:off x="4426306"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8" name="My role"/>
          <p:cNvSpPr txBox="1"/>
          <p:nvPr/>
        </p:nvSpPr>
        <p:spPr>
          <a:xfrm>
            <a:off x="4700626"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My role</a:t>
            </a:r>
            <a:endParaRPr lang="en-US" sz="2000" dirty="0"/>
          </a:p>
          <a:p>
            <a:pPr indent="0" marL="0">
              <a:buNone/>
            </a:pPr>
            <a:r>
              <a:rPr lang="en-US" sz="1500" dirty="0">
                <a:solidFill>
                  <a:schemeClr val="tx2"/>
                </a:solidFill>
              </a:rPr>
              <a:t>Technical lead from evaluation through implementation: PoC with written success criteria, target architecture, migration plan, </a:t>
            </a:r>
            <a:pPr indent="0" marL="0">
              <a:buNone/>
            </a:pPr>
            <a:r>
              <a:rPr lang="en-US" sz="1500" dirty="0">
                <a:solidFill>
                  <a:schemeClr val="accent3"/>
                </a:solidFill>
              </a:rPr>
              <a:t>[enablement / team size]</a:t>
            </a:r>
            <a:pPr indent="0" marL="0">
              <a:buNone/>
            </a:pPr>
            <a:r>
              <a:rPr lang="en-US" sz="1500" dirty="0">
                <a:solidFill>
                  <a:schemeClr val="tx2"/>
                </a:solidFill>
              </a:rPr>
              <a:t>.</a:t>
            </a:r>
            <a:endParaRPr lang="en-US" sz="2000" dirty="0"/>
          </a:p>
        </p:txBody>
      </p:sp>
      <p:sp>
        <p:nvSpPr>
          <p:cNvPr id="9" name="The risks card"/>
          <p:cNvSpPr/>
          <p:nvPr/>
        </p:nvSpPr>
        <p:spPr>
          <a:xfrm>
            <a:off x="8039710"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10" name="The risks"/>
          <p:cNvSpPr txBox="1"/>
          <p:nvPr/>
        </p:nvSpPr>
        <p:spPr>
          <a:xfrm>
            <a:off x="8314030"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The risks</a:t>
            </a:r>
            <a:endParaRPr lang="en-US" sz="2000" dirty="0"/>
          </a:p>
          <a:p>
            <a:pPr indent="0" marL="0">
              <a:spcAft>
                <a:spcPts val="600"/>
              </a:spcAft>
              <a:buNone/>
            </a:pPr>
            <a:r>
              <a:rPr lang="en-US" sz="1500" b="1" dirty="0">
                <a:solidFill>
                  <a:schemeClr val="tx2"/>
                </a:solidFill>
              </a:rPr>
              <a:t>Technical: </a:t>
            </a:r>
            <a:pPr indent="0" marL="0">
              <a:buNone/>
            </a:pPr>
            <a:r>
              <a:rPr lang="en-US" sz="1500" dirty="0">
                <a:solidFill>
                  <a:schemeClr val="tx2"/>
                </a:solidFill>
              </a:rPr>
              <a:t>5,000+ agents across apps, infrastructure and network</a:t>
            </a:r>
            <a:endParaRPr lang="en-US" sz="2000" dirty="0"/>
          </a:p>
          <a:p>
            <a:pPr indent="0" marL="0">
              <a:spcAft>
                <a:spcPts val="600"/>
              </a:spcAft>
              <a:buNone/>
            </a:pPr>
            <a:r>
              <a:rPr lang="en-US" sz="1500" b="1" dirty="0">
                <a:solidFill>
                  <a:schemeClr val="tx2"/>
                </a:solidFill>
              </a:rPr>
              <a:t>Political: </a:t>
            </a:r>
            <a:pPr indent="0" marL="0">
              <a:buNone/>
            </a:pPr>
            <a:r>
              <a:rPr lang="en-US" sz="1500" dirty="0">
                <a:solidFill>
                  <a:schemeClr val="tx2"/>
                </a:solidFill>
              </a:rPr>
              <a:t>displacing a tool teams relied on </a:t>
            </a:r>
            <a:pPr indent="0" marL="0">
              <a:buNone/>
            </a:pPr>
            <a:r>
              <a:rPr lang="en-US" sz="1500" dirty="0">
                <a:solidFill>
                  <a:schemeClr val="accent3"/>
                </a:solidFill>
              </a:rPr>
              <a:t>[who resisted]</a:t>
            </a:r>
            <a:endParaRPr lang="en-US" sz="2000" dirty="0"/>
          </a:p>
          <a:p>
            <a:pPr indent="0" marL="0">
              <a:buNone/>
            </a:pPr>
            <a:r>
              <a:rPr lang="en-US" sz="1500" b="1" dirty="0">
                <a:solidFill>
                  <a:schemeClr val="tx2"/>
                </a:solidFill>
              </a:rPr>
              <a:t>Timing: </a:t>
            </a:r>
            <a:pPr indent="0" marL="0">
              <a:buNone/>
            </a:pPr>
            <a:r>
              <a:rPr lang="en-US" sz="1500" dirty="0">
                <a:solidFill>
                  <a:schemeClr val="tx2"/>
                </a:solidFill>
              </a:rPr>
              <a:t>hurricane-season change freezes</a:t>
            </a:r>
            <a:endParaRPr lang="en-US" sz="20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CUSTOMER EXPERIENCE · HOW I DELIVERED</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Phase it, run in parallel, prove it first</a:t>
            </a:r>
            <a:endParaRPr lang="en-US" sz="3200" dirty="0"/>
          </a:p>
        </p:txBody>
      </p:sp>
      <p:sp>
        <p:nvSpPr>
          <p:cNvPr id="5" name="Investigate and unblock card"/>
          <p:cNvSpPr/>
          <p:nvPr/>
        </p:nvSpPr>
        <p:spPr>
          <a:xfrm>
            <a:off x="812902" y="2011680"/>
            <a:ext cx="5145786" cy="1371600"/>
          </a:xfrm>
          <a:prstGeom prst="roundRect">
            <a:avLst>
              <a:gd name="adj" fmla="val 8000"/>
            </a:avLst>
          </a:prstGeom>
          <a:solidFill>
            <a:schemeClr val="bg1"/>
          </a:solidFill>
          <a:ln w="9525">
            <a:solidFill>
              <a:schemeClr val="accent5">
                <a:alpha val="35000"/>
              </a:schemeClr>
            </a:solidFill>
            <a:prstDash val="solid"/>
          </a:ln>
        </p:spPr>
      </p:sp>
      <p:sp>
        <p:nvSpPr>
          <p:cNvPr id="6" name="Investigate and unblock"/>
          <p:cNvSpPr txBox="1"/>
          <p:nvPr/>
        </p:nvSpPr>
        <p:spPr>
          <a:xfrm>
            <a:off x="1068934" y="2212848"/>
            <a:ext cx="4633722" cy="100584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Investigate and unblock</a:t>
            </a:r>
            <a:endParaRPr lang="en-US" sz="1600" dirty="0"/>
          </a:p>
          <a:p>
            <a:pPr indent="0" marL="0">
              <a:buNone/>
            </a:pPr>
            <a:r>
              <a:rPr lang="en-US" sz="1400" dirty="0">
                <a:solidFill>
                  <a:schemeClr val="accent3"/>
                </a:solidFill>
              </a:rPr>
              <a:t>[Hardest technical issue: how you diagnosed it and what you changed]</a:t>
            </a:r>
            <a:endParaRPr lang="en-US" sz="1600" dirty="0"/>
          </a:p>
        </p:txBody>
      </p:sp>
      <p:sp>
        <p:nvSpPr>
          <p:cNvPr id="7" name="Balance scope, time and quality card"/>
          <p:cNvSpPr/>
          <p:nvPr/>
        </p:nvSpPr>
        <p:spPr>
          <a:xfrm>
            <a:off x="6233008" y="2011680"/>
            <a:ext cx="5145786" cy="1371600"/>
          </a:xfrm>
          <a:prstGeom prst="roundRect">
            <a:avLst>
              <a:gd name="adj" fmla="val 8000"/>
            </a:avLst>
          </a:prstGeom>
          <a:solidFill>
            <a:schemeClr val="bg1"/>
          </a:solidFill>
          <a:ln w="9525">
            <a:solidFill>
              <a:schemeClr val="accent5">
                <a:alpha val="35000"/>
              </a:schemeClr>
            </a:solidFill>
            <a:prstDash val="solid"/>
          </a:ln>
        </p:spPr>
      </p:sp>
      <p:sp>
        <p:nvSpPr>
          <p:cNvPr id="8" name="Balance scope, time and quality"/>
          <p:cNvSpPr txBox="1"/>
          <p:nvPr/>
        </p:nvSpPr>
        <p:spPr>
          <a:xfrm>
            <a:off x="6489040" y="2212848"/>
            <a:ext cx="4633722" cy="100584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Balance scope, time and quality</a:t>
            </a:r>
            <a:endParaRPr lang="en-US" sz="1600" dirty="0"/>
          </a:p>
          <a:p>
            <a:pPr indent="0" marL="0">
              <a:buNone/>
            </a:pPr>
            <a:r>
              <a:rPr lang="en-US" sz="1400" dirty="0">
                <a:solidFill>
                  <a:schemeClr val="tx2"/>
                </a:solidFill>
              </a:rPr>
              <a:t>Waves, both tools in parallel, cut-overs around change freezes. </a:t>
            </a:r>
            <a:pPr indent="0" marL="0">
              <a:buNone/>
            </a:pPr>
            <a:r>
              <a:rPr lang="en-US" sz="1400" dirty="0">
                <a:solidFill>
                  <a:schemeClr val="accent3"/>
                </a:solidFill>
              </a:rPr>
              <a:t>[What I chose not to migrate]</a:t>
            </a:r>
            <a:endParaRPr lang="en-US" sz="1600" dirty="0"/>
          </a:p>
        </p:txBody>
      </p:sp>
      <p:sp>
        <p:nvSpPr>
          <p:cNvPr id="9" name="Restore and adjust card"/>
          <p:cNvSpPr/>
          <p:nvPr/>
        </p:nvSpPr>
        <p:spPr>
          <a:xfrm>
            <a:off x="812902" y="3611880"/>
            <a:ext cx="5145786" cy="1371600"/>
          </a:xfrm>
          <a:prstGeom prst="roundRect">
            <a:avLst>
              <a:gd name="adj" fmla="val 8000"/>
            </a:avLst>
          </a:prstGeom>
          <a:solidFill>
            <a:schemeClr val="bg1"/>
          </a:solidFill>
          <a:ln w="9525">
            <a:solidFill>
              <a:schemeClr val="accent5">
                <a:alpha val="35000"/>
              </a:schemeClr>
            </a:solidFill>
            <a:prstDash val="solid"/>
          </a:ln>
        </p:spPr>
      </p:sp>
      <p:sp>
        <p:nvSpPr>
          <p:cNvPr id="10" name="Restore and adjust"/>
          <p:cNvSpPr txBox="1"/>
          <p:nvPr/>
        </p:nvSpPr>
        <p:spPr>
          <a:xfrm>
            <a:off x="1068934" y="3813048"/>
            <a:ext cx="4633722" cy="100584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Restore and adjust</a:t>
            </a:r>
            <a:endParaRPr lang="en-US" sz="1600" dirty="0"/>
          </a:p>
          <a:p>
            <a:pPr indent="0" marL="0">
              <a:buNone/>
            </a:pPr>
            <a:r>
              <a:rPr lang="en-US" sz="1400" dirty="0">
                <a:solidFill>
                  <a:schemeClr val="accent3"/>
                </a:solidFill>
              </a:rPr>
              <a:t>[When a wave broke or missed parity: how you restored it, what changed]</a:t>
            </a:r>
            <a:endParaRPr lang="en-US" sz="1600" dirty="0"/>
          </a:p>
        </p:txBody>
      </p:sp>
      <p:sp>
        <p:nvSpPr>
          <p:cNvPr id="11" name="Alongside the day job card"/>
          <p:cNvSpPr/>
          <p:nvPr/>
        </p:nvSpPr>
        <p:spPr>
          <a:xfrm>
            <a:off x="6233008" y="3611880"/>
            <a:ext cx="5145786" cy="1371600"/>
          </a:xfrm>
          <a:prstGeom prst="roundRect">
            <a:avLst>
              <a:gd name="adj" fmla="val 8000"/>
            </a:avLst>
          </a:prstGeom>
          <a:solidFill>
            <a:schemeClr val="bg1"/>
          </a:solidFill>
          <a:ln w="9525">
            <a:solidFill>
              <a:schemeClr val="accent5">
                <a:alpha val="35000"/>
              </a:schemeClr>
            </a:solidFill>
            <a:prstDash val="solid"/>
          </a:ln>
        </p:spPr>
      </p:sp>
      <p:sp>
        <p:nvSpPr>
          <p:cNvPr id="12" name="Alongside the day job"/>
          <p:cNvSpPr txBox="1"/>
          <p:nvPr/>
        </p:nvSpPr>
        <p:spPr>
          <a:xfrm>
            <a:off x="6489040" y="3813048"/>
            <a:ext cx="4633722" cy="100584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Alongside the day job</a:t>
            </a:r>
            <a:endParaRPr lang="en-US" sz="1600" dirty="0"/>
          </a:p>
          <a:p>
            <a:pPr indent="0" marL="0">
              <a:buNone/>
            </a:pPr>
            <a:r>
              <a:rPr lang="en-US" sz="1400" dirty="0">
                <a:solidFill>
                  <a:schemeClr val="accent3"/>
                </a:solidFill>
              </a:rPr>
              <a:t>[How you kept other accounts covered: cadence, PS or partner, runbooks]</a:t>
            </a:r>
            <a:endParaRPr lang="en-US" sz="1600" dirty="0"/>
          </a:p>
        </p:txBody>
      </p:sp>
      <p:sp>
        <p:nvSpPr>
          <p:cNvPr id="13" name="Business value band"/>
          <p:cNvSpPr/>
          <p:nvPr/>
        </p:nvSpPr>
        <p:spPr>
          <a:xfrm>
            <a:off x="812902" y="5257800"/>
            <a:ext cx="10565892" cy="777240"/>
          </a:xfrm>
          <a:prstGeom prst="roundRect">
            <a:avLst>
              <a:gd name="adj" fmla="val 14118"/>
            </a:avLst>
          </a:prstGeom>
          <a:solidFill>
            <a:schemeClr val="tx1"/>
          </a:solidFill>
          <a:ln/>
        </p:spPr>
      </p:sp>
      <p:sp>
        <p:nvSpPr>
          <p:cNvPr id="14" name="Business value label"/>
          <p:cNvSpPr txBox="1"/>
          <p:nvPr/>
        </p:nvSpPr>
        <p:spPr>
          <a:xfrm>
            <a:off x="1087222" y="5257800"/>
            <a:ext cx="1828800" cy="777240"/>
          </a:xfrm>
          <a:prstGeom prst="rect">
            <a:avLst/>
          </a:prstGeom>
          <a:noFill/>
          <a:ln/>
        </p:spPr>
        <p:txBody>
          <a:bodyPr wrap="square" lIns="0" tIns="0" rIns="0" bIns="0" rtlCol="0" anchor="ctr"/>
          <a:lstStyle/>
          <a:p>
            <a:pPr indent="0" marL="0">
              <a:buNone/>
            </a:pPr>
            <a:r>
              <a:rPr lang="en-US" sz="1200" b="1" spc="300" kern="0" dirty="0">
                <a:solidFill>
                  <a:schemeClr val="accent1"/>
                </a:solidFill>
              </a:rPr>
              <a:t>BUSINESS VALUE</a:t>
            </a:r>
            <a:endParaRPr lang="en-US" sz="1200" dirty="0"/>
          </a:p>
        </p:txBody>
      </p:sp>
      <p:sp>
        <p:nvSpPr>
          <p:cNvPr id="15" name="Business value"/>
          <p:cNvSpPr txBox="1"/>
          <p:nvPr/>
        </p:nvSpPr>
        <p:spPr>
          <a:xfrm>
            <a:off x="2916022" y="5257800"/>
            <a:ext cx="8188452" cy="777240"/>
          </a:xfrm>
          <a:prstGeom prst="rect">
            <a:avLst/>
          </a:prstGeom>
          <a:noFill/>
          <a:ln/>
        </p:spPr>
        <p:txBody>
          <a:bodyPr wrap="square" lIns="0" tIns="0" rIns="0" bIns="0" rtlCol="0" anchor="ctr"/>
          <a:lstStyle/>
          <a:p>
            <a:pPr indent="0" marL="0">
              <a:buNone/>
            </a:pPr>
            <a:r>
              <a:rPr lang="en-US" sz="1500" dirty="0">
                <a:solidFill>
                  <a:schemeClr val="bg1"/>
                </a:solidFill>
              </a:rPr>
              <a:t>5,000+ agents migrated over 2+ years · </a:t>
            </a:r>
            <a:pPr indent="0" marL="0">
              <a:buNone/>
            </a:pPr>
            <a:r>
              <a:rPr lang="en-US" sz="1500" dirty="0">
                <a:solidFill>
                  <a:schemeClr val="accent1"/>
                </a:solidFill>
              </a:rPr>
              <a:t>[# tools retired · cost saved · MTTR or incident change · renewal]</a:t>
            </a:r>
            <a:endParaRPr lang="en-US" sz="15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TECHNICAL EXPERIENCE · TARGET ARCHITECTURE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One platform for every layer</a:t>
            </a:r>
            <a:endParaRPr lang="en-US" sz="3200" dirty="0"/>
          </a:p>
        </p:txBody>
      </p:sp>
      <p:sp>
        <p:nvSpPr>
          <p:cNvPr id="5" name="MONITORED label"/>
          <p:cNvSpPr txBox="1"/>
          <p:nvPr/>
        </p:nvSpPr>
        <p:spPr>
          <a:xfrm>
            <a:off x="812902"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MONITORED</a:t>
            </a:r>
            <a:endParaRPr lang="en-US" sz="1200" dirty="0"/>
          </a:p>
        </p:txBody>
      </p:sp>
      <p:sp>
        <p:nvSpPr>
          <p:cNvPr id="6" name="Customer-facing apps: outage reporting, web, mobile tile"/>
          <p:cNvSpPr/>
          <p:nvPr/>
        </p:nvSpPr>
        <p:spPr>
          <a:xfrm>
            <a:off x="812902" y="2377440"/>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7" name="Customer-facing apps: outage reporting, web, mobile"/>
          <p:cNvSpPr txBox="1"/>
          <p:nvPr/>
        </p:nvSpPr>
        <p:spPr>
          <a:xfrm>
            <a:off x="922630" y="2377440"/>
            <a:ext cx="1969389" cy="566928"/>
          </a:xfrm>
          <a:prstGeom prst="rect">
            <a:avLst/>
          </a:prstGeom>
          <a:noFill/>
          <a:ln/>
        </p:spPr>
        <p:txBody>
          <a:bodyPr wrap="square" lIns="0" tIns="0" rIns="0" bIns="0" rtlCol="0" anchor="ctr"/>
          <a:lstStyle/>
          <a:p>
            <a:pPr indent="0" marL="0">
              <a:buNone/>
            </a:pPr>
            <a:r>
              <a:rPr lang="en-US" sz="1200" dirty="0">
                <a:solidFill>
                  <a:schemeClr val="tx1"/>
                </a:solidFill>
              </a:rPr>
              <a:t>Customer-facing apps: outage reporting, web, mobile</a:t>
            </a:r>
            <a:endParaRPr lang="en-US" sz="1200" dirty="0"/>
          </a:p>
        </p:txBody>
      </p:sp>
      <p:sp>
        <p:nvSpPr>
          <p:cNvPr id="8" name="Data centers: Windows, Linux, VMware tile"/>
          <p:cNvSpPr/>
          <p:nvPr/>
        </p:nvSpPr>
        <p:spPr>
          <a:xfrm>
            <a:off x="812902" y="3035808"/>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9" name="Data centers: Windows, Linux, VMware"/>
          <p:cNvSpPr txBox="1"/>
          <p:nvPr/>
        </p:nvSpPr>
        <p:spPr>
          <a:xfrm>
            <a:off x="922630" y="3035808"/>
            <a:ext cx="1969389" cy="566928"/>
          </a:xfrm>
          <a:prstGeom prst="rect">
            <a:avLst/>
          </a:prstGeom>
          <a:noFill/>
          <a:ln/>
        </p:spPr>
        <p:txBody>
          <a:bodyPr wrap="square" lIns="0" tIns="0" rIns="0" bIns="0" rtlCol="0" anchor="ctr"/>
          <a:lstStyle/>
          <a:p>
            <a:pPr indent="0" marL="0">
              <a:buNone/>
            </a:pPr>
            <a:r>
              <a:rPr lang="en-US" sz="1200" dirty="0">
                <a:solidFill>
                  <a:schemeClr val="tx1"/>
                </a:solidFill>
              </a:rPr>
              <a:t>Data centers: Windows, Linux, VMware</a:t>
            </a:r>
            <a:endParaRPr lang="en-US" sz="1200" dirty="0"/>
          </a:p>
        </p:txBody>
      </p:sp>
      <p:sp>
        <p:nvSpPr>
          <p:cNvPr id="10" name="Network across the service territory tile"/>
          <p:cNvSpPr/>
          <p:nvPr/>
        </p:nvSpPr>
        <p:spPr>
          <a:xfrm>
            <a:off x="812902" y="3694176"/>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11" name="Network across the service territory"/>
          <p:cNvSpPr txBox="1"/>
          <p:nvPr/>
        </p:nvSpPr>
        <p:spPr>
          <a:xfrm>
            <a:off x="922630" y="3694176"/>
            <a:ext cx="1969389" cy="566928"/>
          </a:xfrm>
          <a:prstGeom prst="rect">
            <a:avLst/>
          </a:prstGeom>
          <a:noFill/>
          <a:ln/>
        </p:spPr>
        <p:txBody>
          <a:bodyPr wrap="square" lIns="0" tIns="0" rIns="0" bIns="0" rtlCol="0" anchor="ctr"/>
          <a:lstStyle/>
          <a:p>
            <a:pPr indent="0" marL="0">
              <a:buNone/>
            </a:pPr>
            <a:r>
              <a:rPr lang="en-US" sz="1200" dirty="0">
                <a:solidFill>
                  <a:schemeClr val="tx1"/>
                </a:solidFill>
              </a:rPr>
              <a:t>Network across the service territory</a:t>
            </a:r>
            <a:endParaRPr lang="en-US" sz="1200" dirty="0"/>
          </a:p>
        </p:txBody>
      </p:sp>
      <p:sp>
        <p:nvSpPr>
          <p:cNvPr id="12" name="Kubernetes and AWS tile"/>
          <p:cNvSpPr/>
          <p:nvPr/>
        </p:nvSpPr>
        <p:spPr>
          <a:xfrm>
            <a:off x="812902" y="4352544"/>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13" name="Kubernetes and AWS"/>
          <p:cNvSpPr txBox="1"/>
          <p:nvPr/>
        </p:nvSpPr>
        <p:spPr>
          <a:xfrm>
            <a:off x="922630" y="4352544"/>
            <a:ext cx="1969389" cy="566928"/>
          </a:xfrm>
          <a:prstGeom prst="rect">
            <a:avLst/>
          </a:prstGeom>
          <a:noFill/>
          <a:ln/>
        </p:spPr>
        <p:txBody>
          <a:bodyPr wrap="square" lIns="0" tIns="0" rIns="0" bIns="0" rtlCol="0" anchor="ctr"/>
          <a:lstStyle/>
          <a:p>
            <a:pPr indent="0" marL="0">
              <a:buNone/>
            </a:pPr>
            <a:r>
              <a:rPr lang="en-US" sz="1200" dirty="0">
                <a:solidFill>
                  <a:schemeClr val="tx1"/>
                </a:solidFill>
              </a:rPr>
              <a:t>Kubernetes and AWS</a:t>
            </a:r>
            <a:endParaRPr lang="en-US" sz="1200" dirty="0"/>
          </a:p>
        </p:txBody>
      </p:sp>
      <p:sp>
        <p:nvSpPr>
          <p:cNvPr id="14" name="COLLECTED BY label"/>
          <p:cNvSpPr txBox="1"/>
          <p:nvPr/>
        </p:nvSpPr>
        <p:spPr>
          <a:xfrm>
            <a:off x="3605251"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COLLECTED BY</a:t>
            </a:r>
            <a:endParaRPr lang="en-US" sz="1200" dirty="0"/>
          </a:p>
        </p:txBody>
      </p:sp>
      <p:sp>
        <p:nvSpPr>
          <p:cNvPr id="15" name="DX APM agents on app servers tile"/>
          <p:cNvSpPr/>
          <p:nvPr/>
        </p:nvSpPr>
        <p:spPr>
          <a:xfrm>
            <a:off x="3605251" y="2377440"/>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16" name="DX APM agents on app servers"/>
          <p:cNvSpPr txBox="1"/>
          <p:nvPr/>
        </p:nvSpPr>
        <p:spPr>
          <a:xfrm>
            <a:off x="3714979" y="2377440"/>
            <a:ext cx="1969389" cy="566928"/>
          </a:xfrm>
          <a:prstGeom prst="rect">
            <a:avLst/>
          </a:prstGeom>
          <a:noFill/>
          <a:ln/>
        </p:spPr>
        <p:txBody>
          <a:bodyPr wrap="square" lIns="0" tIns="0" rIns="0" bIns="0" rtlCol="0" anchor="ctr"/>
          <a:lstStyle/>
          <a:p>
            <a:pPr indent="0" marL="0">
              <a:buNone/>
            </a:pPr>
            <a:r>
              <a:rPr lang="en-US" sz="1200" dirty="0">
                <a:solidFill>
                  <a:schemeClr val="tx1"/>
                </a:solidFill>
              </a:rPr>
              <a:t>DX APM agents on app servers</a:t>
            </a:r>
            <a:endParaRPr lang="en-US" sz="1200" dirty="0"/>
          </a:p>
        </p:txBody>
      </p:sp>
      <p:sp>
        <p:nvSpPr>
          <p:cNvPr id="17" name="UIM hubs and robots per data center tile"/>
          <p:cNvSpPr/>
          <p:nvPr/>
        </p:nvSpPr>
        <p:spPr>
          <a:xfrm>
            <a:off x="3605251" y="3035808"/>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18" name="UIM hubs and robots per data center"/>
          <p:cNvSpPr txBox="1"/>
          <p:nvPr/>
        </p:nvSpPr>
        <p:spPr>
          <a:xfrm>
            <a:off x="3714979" y="3035808"/>
            <a:ext cx="1969389" cy="566928"/>
          </a:xfrm>
          <a:prstGeom prst="rect">
            <a:avLst/>
          </a:prstGeom>
          <a:noFill/>
          <a:ln/>
        </p:spPr>
        <p:txBody>
          <a:bodyPr wrap="square" lIns="0" tIns="0" rIns="0" bIns="0" rtlCol="0" anchor="ctr"/>
          <a:lstStyle/>
          <a:p>
            <a:pPr indent="0" marL="0">
              <a:buNone/>
            </a:pPr>
            <a:r>
              <a:rPr lang="en-US" sz="1200" dirty="0">
                <a:solidFill>
                  <a:schemeClr val="tx1"/>
                </a:solidFill>
              </a:rPr>
              <a:t>UIM hubs and robots per data center</a:t>
            </a:r>
            <a:endParaRPr lang="en-US" sz="1200" dirty="0"/>
          </a:p>
        </p:txBody>
      </p:sp>
      <p:sp>
        <p:nvSpPr>
          <p:cNvPr id="19" name="NetOps fault isolation and performance tile"/>
          <p:cNvSpPr/>
          <p:nvPr/>
        </p:nvSpPr>
        <p:spPr>
          <a:xfrm>
            <a:off x="3605251" y="3694176"/>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0" name="NetOps fault isolation and performance"/>
          <p:cNvSpPr txBox="1"/>
          <p:nvPr/>
        </p:nvSpPr>
        <p:spPr>
          <a:xfrm>
            <a:off x="3714979" y="3694176"/>
            <a:ext cx="1969389" cy="566928"/>
          </a:xfrm>
          <a:prstGeom prst="rect">
            <a:avLst/>
          </a:prstGeom>
          <a:noFill/>
          <a:ln/>
        </p:spPr>
        <p:txBody>
          <a:bodyPr wrap="square" lIns="0" tIns="0" rIns="0" bIns="0" rtlCol="0" anchor="ctr"/>
          <a:lstStyle/>
          <a:p>
            <a:pPr indent="0" marL="0">
              <a:buNone/>
            </a:pPr>
            <a:r>
              <a:rPr lang="en-US" sz="1200" dirty="0">
                <a:solidFill>
                  <a:schemeClr val="tx1"/>
                </a:solidFill>
              </a:rPr>
              <a:t>NetOps fault isolation and performance</a:t>
            </a:r>
            <a:endParaRPr lang="en-US" sz="1200" dirty="0"/>
          </a:p>
        </p:txBody>
      </p:sp>
      <p:sp>
        <p:nvSpPr>
          <p:cNvPr id="21" name="Cloud APIs and Kubernetes monitoring tile"/>
          <p:cNvSpPr/>
          <p:nvPr/>
        </p:nvSpPr>
        <p:spPr>
          <a:xfrm>
            <a:off x="3605251" y="4352544"/>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2" name="Cloud APIs and Kubernetes monitoring"/>
          <p:cNvSpPr txBox="1"/>
          <p:nvPr/>
        </p:nvSpPr>
        <p:spPr>
          <a:xfrm>
            <a:off x="3714979" y="4352544"/>
            <a:ext cx="1969389" cy="566928"/>
          </a:xfrm>
          <a:prstGeom prst="rect">
            <a:avLst/>
          </a:prstGeom>
          <a:noFill/>
          <a:ln/>
        </p:spPr>
        <p:txBody>
          <a:bodyPr wrap="square" lIns="0" tIns="0" rIns="0" bIns="0" rtlCol="0" anchor="ctr"/>
          <a:lstStyle/>
          <a:p>
            <a:pPr indent="0" marL="0">
              <a:buNone/>
            </a:pPr>
            <a:r>
              <a:rPr lang="en-US" sz="1200" dirty="0">
                <a:solidFill>
                  <a:schemeClr val="tx1"/>
                </a:solidFill>
              </a:rPr>
              <a:t>Cloud APIs and Kubernetes monitoring</a:t>
            </a:r>
            <a:endParaRPr lang="en-US" sz="1200" dirty="0"/>
          </a:p>
        </p:txBody>
      </p:sp>
      <p:sp>
        <p:nvSpPr>
          <p:cNvPr id="23" name="CORRELATED IN label"/>
          <p:cNvSpPr txBox="1"/>
          <p:nvPr/>
        </p:nvSpPr>
        <p:spPr>
          <a:xfrm>
            <a:off x="6397600"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CORRELATED IN</a:t>
            </a:r>
            <a:endParaRPr lang="en-US" sz="1200" dirty="0"/>
          </a:p>
        </p:txBody>
      </p:sp>
      <p:sp>
        <p:nvSpPr>
          <p:cNvPr id="24" name="DX O2 tile"/>
          <p:cNvSpPr/>
          <p:nvPr/>
        </p:nvSpPr>
        <p:spPr>
          <a:xfrm>
            <a:off x="6397600" y="2706624"/>
            <a:ext cx="2188845" cy="1737360"/>
          </a:xfrm>
          <a:prstGeom prst="roundRect">
            <a:avLst>
              <a:gd name="adj" fmla="val 6316"/>
            </a:avLst>
          </a:prstGeom>
          <a:solidFill>
            <a:schemeClr val="tx1"/>
          </a:solidFill>
          <a:ln/>
        </p:spPr>
      </p:sp>
      <p:sp>
        <p:nvSpPr>
          <p:cNvPr id="25" name="DX O2"/>
          <p:cNvSpPr txBox="1"/>
          <p:nvPr/>
        </p:nvSpPr>
        <p:spPr>
          <a:xfrm>
            <a:off x="6543904" y="2871216"/>
            <a:ext cx="1896237" cy="141732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DX Operational Observability</a:t>
            </a:r>
            <a:endParaRPr lang="en-US" sz="1400" dirty="0"/>
          </a:p>
          <a:p>
            <a:pPr indent="0" marL="0">
              <a:buNone/>
            </a:pPr>
            <a:r>
              <a:rPr lang="en-US" sz="1200" dirty="0">
                <a:solidFill>
                  <a:schemeClr val="accent4"/>
                </a:solidFill>
              </a:rPr>
              <a:t>Topology, alarm correlation, service views for customer-facing apps</a:t>
            </a:r>
            <a:endParaRPr lang="en-US" sz="1400" dirty="0"/>
          </a:p>
        </p:txBody>
      </p:sp>
      <p:sp>
        <p:nvSpPr>
          <p:cNvPr id="26" name="ACTED ON BY label"/>
          <p:cNvSpPr txBox="1"/>
          <p:nvPr/>
        </p:nvSpPr>
        <p:spPr>
          <a:xfrm>
            <a:off x="9189949"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ACTED ON BY</a:t>
            </a:r>
            <a:endParaRPr lang="en-US" sz="1200" dirty="0"/>
          </a:p>
        </p:txBody>
      </p:sp>
      <p:sp>
        <p:nvSpPr>
          <p:cNvPr id="27" name="NOC tile"/>
          <p:cNvSpPr/>
          <p:nvPr/>
        </p:nvSpPr>
        <p:spPr>
          <a:xfrm>
            <a:off x="9189949" y="2377440"/>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8" name="NOC"/>
          <p:cNvSpPr txBox="1"/>
          <p:nvPr/>
        </p:nvSpPr>
        <p:spPr>
          <a:xfrm>
            <a:off x="9299677" y="2377440"/>
            <a:ext cx="1969389" cy="566928"/>
          </a:xfrm>
          <a:prstGeom prst="rect">
            <a:avLst/>
          </a:prstGeom>
          <a:noFill/>
          <a:ln/>
        </p:spPr>
        <p:txBody>
          <a:bodyPr wrap="square" lIns="0" tIns="0" rIns="0" bIns="0" rtlCol="0" anchor="ctr"/>
          <a:lstStyle/>
          <a:p>
            <a:pPr indent="0" marL="0">
              <a:buNone/>
            </a:pPr>
            <a:r>
              <a:rPr lang="en-US" sz="1200" dirty="0">
                <a:solidFill>
                  <a:schemeClr val="tx1"/>
                </a:solidFill>
              </a:rPr>
              <a:t>NOC and app teams</a:t>
            </a:r>
            <a:endParaRPr lang="en-US" sz="1200" dirty="0"/>
          </a:p>
        </p:txBody>
      </p:sp>
      <p:sp>
        <p:nvSpPr>
          <p:cNvPr id="29" name="ITSM tile"/>
          <p:cNvSpPr/>
          <p:nvPr/>
        </p:nvSpPr>
        <p:spPr>
          <a:xfrm>
            <a:off x="9189949" y="3035808"/>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30" name="ITSM"/>
          <p:cNvSpPr txBox="1"/>
          <p:nvPr/>
        </p:nvSpPr>
        <p:spPr>
          <a:xfrm>
            <a:off x="9299677" y="3035808"/>
            <a:ext cx="1969389" cy="566928"/>
          </a:xfrm>
          <a:prstGeom prst="rect">
            <a:avLst/>
          </a:prstGeom>
          <a:noFill/>
          <a:ln/>
        </p:spPr>
        <p:txBody>
          <a:bodyPr wrap="square" lIns="0" tIns="0" rIns="0" bIns="0" rtlCol="0" anchor="ctr"/>
          <a:lstStyle/>
          <a:p>
            <a:pPr indent="0" marL="0">
              <a:buNone/>
            </a:pPr>
            <a:r>
              <a:rPr lang="en-US" sz="1200" dirty="0">
                <a:solidFill>
                  <a:schemeClr val="tx1"/>
                </a:solidFill>
              </a:rPr>
              <a:t>ITSM </a:t>
            </a:r>
            <a:pPr indent="0" marL="0">
              <a:buNone/>
            </a:pPr>
            <a:r>
              <a:rPr lang="en-US" sz="1200" dirty="0">
                <a:solidFill>
                  <a:schemeClr val="accent3"/>
                </a:solidFill>
              </a:rPr>
              <a:t>[ServiceNow?]</a:t>
            </a:r>
            <a:endParaRPr lang="en-US" sz="1200" dirty="0"/>
          </a:p>
        </p:txBody>
      </p:sp>
      <p:sp>
        <p:nvSpPr>
          <p:cNvPr id="31" name="Dashboards tile"/>
          <p:cNvSpPr/>
          <p:nvPr/>
        </p:nvSpPr>
        <p:spPr>
          <a:xfrm>
            <a:off x="9189949" y="3694176"/>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32" name="Dashboards"/>
          <p:cNvSpPr txBox="1"/>
          <p:nvPr/>
        </p:nvSpPr>
        <p:spPr>
          <a:xfrm>
            <a:off x="9299677" y="3694176"/>
            <a:ext cx="1969389" cy="566928"/>
          </a:xfrm>
          <a:prstGeom prst="rect">
            <a:avLst/>
          </a:prstGeom>
          <a:noFill/>
          <a:ln/>
        </p:spPr>
        <p:txBody>
          <a:bodyPr wrap="square" lIns="0" tIns="0" rIns="0" bIns="0" rtlCol="0" anchor="ctr"/>
          <a:lstStyle/>
          <a:p>
            <a:pPr indent="0" marL="0">
              <a:buNone/>
            </a:pPr>
            <a:r>
              <a:rPr lang="en-US" sz="1200" dirty="0">
                <a:solidFill>
                  <a:schemeClr val="tx1"/>
                </a:solidFill>
              </a:rPr>
              <a:t>Executive service dashboards</a:t>
            </a:r>
            <a:endParaRPr lang="en-US" sz="1200" dirty="0"/>
          </a:p>
        </p:txBody>
      </p:sp>
      <p:sp>
        <p:nvSpPr>
          <p:cNvPr id="33" name="Arrow 1"/>
          <p:cNvSpPr/>
          <p:nvPr/>
        </p:nvSpPr>
        <p:spPr>
          <a:xfrm>
            <a:off x="3111475" y="3520440"/>
            <a:ext cx="384048" cy="237744"/>
          </a:xfrm>
          <a:prstGeom prst="rightArrow">
            <a:avLst/>
          </a:prstGeom>
          <a:solidFill>
            <a:schemeClr val="accent2"/>
          </a:solidFill>
          <a:ln/>
        </p:spPr>
      </p:sp>
      <p:sp>
        <p:nvSpPr>
          <p:cNvPr id="34" name="Arrow 2"/>
          <p:cNvSpPr/>
          <p:nvPr/>
        </p:nvSpPr>
        <p:spPr>
          <a:xfrm>
            <a:off x="5903824" y="3520440"/>
            <a:ext cx="384048" cy="237744"/>
          </a:xfrm>
          <a:prstGeom prst="rightArrow">
            <a:avLst/>
          </a:prstGeom>
          <a:solidFill>
            <a:schemeClr val="accent2"/>
          </a:solidFill>
          <a:ln/>
        </p:spPr>
      </p:sp>
      <p:sp>
        <p:nvSpPr>
          <p:cNvPr id="35" name="Arrow 3"/>
          <p:cNvSpPr/>
          <p:nvPr/>
        </p:nvSpPr>
        <p:spPr>
          <a:xfrm>
            <a:off x="8696173" y="3520440"/>
            <a:ext cx="384048" cy="237744"/>
          </a:xfrm>
          <a:prstGeom prst="rightArrow">
            <a:avLst/>
          </a:prstGeom>
          <a:solidFill>
            <a:schemeClr val="accent2"/>
          </a:solidFill>
          <a:ln/>
        </p:spPr>
      </p:sp>
      <p:sp>
        <p:nvSpPr>
          <p:cNvPr id="36" name="LM terms label"/>
          <p:cNvSpPr txBox="1"/>
          <p:nvPr/>
        </p:nvSpPr>
        <p:spPr>
          <a:xfrm>
            <a:off x="812902" y="5138928"/>
            <a:ext cx="10565892"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IN LOGICMONITOR TERMS</a:t>
            </a:r>
            <a:endParaRPr lang="en-US" sz="1200" dirty="0"/>
          </a:p>
        </p:txBody>
      </p:sp>
      <p:sp>
        <p:nvSpPr>
          <p:cNvPr id="37" name="LM term 1"/>
          <p:cNvSpPr txBox="1"/>
          <p:nvPr/>
        </p:nvSpPr>
        <p:spPr>
          <a:xfrm>
            <a:off x="812902" y="5486400"/>
            <a:ext cx="2435733" cy="640080"/>
          </a:xfrm>
          <a:prstGeom prst="rect">
            <a:avLst/>
          </a:prstGeom>
          <a:noFill/>
          <a:ln/>
        </p:spPr>
        <p:txBody>
          <a:bodyPr wrap="square" lIns="0" tIns="0" rIns="0" bIns="0" rtlCol="0" anchor="t"/>
          <a:lstStyle/>
          <a:p>
            <a:pPr indent="0" marL="0">
              <a:buNone/>
            </a:pPr>
            <a:r>
              <a:rPr lang="en-US" sz="1300" dirty="0">
                <a:solidFill>
                  <a:schemeClr val="tx2"/>
                </a:solidFill>
              </a:rPr>
              <a:t>Hubs and robots → </a:t>
            </a:r>
            <a:pPr indent="0" marL="0">
              <a:buNone/>
            </a:pPr>
            <a:r>
              <a:rPr lang="en-US" sz="1300" b="1" dirty="0">
                <a:solidFill>
                  <a:schemeClr val="tx1"/>
                </a:solidFill>
              </a:rPr>
              <a:t>Collectors</a:t>
            </a:r>
            <a:pPr indent="0" marL="0">
              <a:buNone/>
            </a:pPr>
            <a:r>
              <a:rPr lang="en-US" sz="1300" dirty="0">
                <a:solidFill>
                  <a:schemeClr val="tx2"/>
                </a:solidFill>
              </a:rPr>
              <a:t> with auto-balanced groups</a:t>
            </a:r>
            <a:endParaRPr lang="en-US" sz="1300" dirty="0"/>
          </a:p>
        </p:txBody>
      </p:sp>
      <p:sp>
        <p:nvSpPr>
          <p:cNvPr id="38" name="LM term 2"/>
          <p:cNvSpPr txBox="1"/>
          <p:nvPr/>
        </p:nvSpPr>
        <p:spPr>
          <a:xfrm>
            <a:off x="3522955" y="5486400"/>
            <a:ext cx="2435733" cy="640080"/>
          </a:xfrm>
          <a:prstGeom prst="rect">
            <a:avLst/>
          </a:prstGeom>
          <a:noFill/>
          <a:ln/>
        </p:spPr>
        <p:txBody>
          <a:bodyPr wrap="square" lIns="0" tIns="0" rIns="0" bIns="0" rtlCol="0" anchor="t"/>
          <a:lstStyle/>
          <a:p>
            <a:pPr indent="0" marL="0">
              <a:buNone/>
            </a:pPr>
            <a:r>
              <a:rPr lang="en-US" sz="1300" dirty="0">
                <a:solidFill>
                  <a:schemeClr val="tx2"/>
                </a:solidFill>
              </a:rPr>
              <a:t>Probes and templates → </a:t>
            </a:r>
            <a:pPr indent="0" marL="0">
              <a:buNone/>
            </a:pPr>
            <a:r>
              <a:rPr lang="en-US" sz="1300" b="1" dirty="0">
                <a:solidFill>
                  <a:schemeClr val="tx1"/>
                </a:solidFill>
              </a:rPr>
              <a:t>LogicModules</a:t>
            </a:r>
            <a:pPr indent="0" marL="0">
              <a:buNone/>
            </a:pPr>
            <a:r>
              <a:rPr lang="en-US" sz="1300" dirty="0">
                <a:solidFill>
                  <a:schemeClr val="tx2"/>
                </a:solidFill>
              </a:rPr>
              <a:t> and AppliesTo</a:t>
            </a:r>
            <a:endParaRPr lang="en-US" sz="1300" dirty="0"/>
          </a:p>
        </p:txBody>
      </p:sp>
      <p:sp>
        <p:nvSpPr>
          <p:cNvPr id="39" name="LM term 3"/>
          <p:cNvSpPr txBox="1"/>
          <p:nvPr/>
        </p:nvSpPr>
        <p:spPr>
          <a:xfrm>
            <a:off x="6233008" y="5486400"/>
            <a:ext cx="2435733" cy="640080"/>
          </a:xfrm>
          <a:prstGeom prst="rect">
            <a:avLst/>
          </a:prstGeom>
          <a:noFill/>
          <a:ln/>
        </p:spPr>
        <p:txBody>
          <a:bodyPr wrap="square" lIns="0" tIns="0" rIns="0" bIns="0" rtlCol="0" anchor="t"/>
          <a:lstStyle/>
          <a:p>
            <a:pPr indent="0" marL="0">
              <a:buNone/>
            </a:pPr>
            <a:r>
              <a:rPr lang="en-US" sz="1300" dirty="0">
                <a:solidFill>
                  <a:schemeClr val="tx2"/>
                </a:solidFill>
              </a:rPr>
              <a:t>Fault isolation → </a:t>
            </a:r>
            <a:pPr indent="0" marL="0">
              <a:buNone/>
            </a:pPr>
            <a:r>
              <a:rPr lang="en-US" sz="1300" b="1" dirty="0">
                <a:solidFill>
                  <a:schemeClr val="tx1"/>
                </a:solidFill>
              </a:rPr>
              <a:t>topology</a:t>
            </a:r>
            <a:pPr indent="0" marL="0">
              <a:buNone/>
            </a:pPr>
            <a:r>
              <a:rPr lang="en-US" sz="1300" dirty="0">
                <a:solidFill>
                  <a:schemeClr val="tx2"/>
                </a:solidFill>
              </a:rPr>
              <a:t> and alert dependencies</a:t>
            </a:r>
            <a:endParaRPr lang="en-US" sz="1300" dirty="0"/>
          </a:p>
        </p:txBody>
      </p:sp>
      <p:sp>
        <p:nvSpPr>
          <p:cNvPr id="40" name="LM term 4"/>
          <p:cNvSpPr txBox="1"/>
          <p:nvPr/>
        </p:nvSpPr>
        <p:spPr>
          <a:xfrm>
            <a:off x="8943061" y="5486400"/>
            <a:ext cx="2435733" cy="640080"/>
          </a:xfrm>
          <a:prstGeom prst="rect">
            <a:avLst/>
          </a:prstGeom>
          <a:noFill/>
          <a:ln/>
        </p:spPr>
        <p:txBody>
          <a:bodyPr wrap="square" lIns="0" tIns="0" rIns="0" bIns="0" rtlCol="0" anchor="t"/>
          <a:lstStyle/>
          <a:p>
            <a:pPr indent="0" marL="0">
              <a:buNone/>
            </a:pPr>
            <a:r>
              <a:rPr lang="en-US" sz="1300" dirty="0">
                <a:solidFill>
                  <a:schemeClr val="tx2"/>
                </a:solidFill>
              </a:rPr>
              <a:t>Alarm correlation → </a:t>
            </a:r>
            <a:pPr indent="0" marL="0">
              <a:buNone/>
            </a:pPr>
            <a:r>
              <a:rPr lang="en-US" sz="1300" b="1" dirty="0">
                <a:solidFill>
                  <a:schemeClr val="tx1"/>
                </a:solidFill>
              </a:rPr>
              <a:t>Edwin AI</a:t>
            </a:r>
            <a:pPr indent="0" marL="0">
              <a:buNone/>
            </a:pPr>
            <a:r>
              <a:rPr lang="en-US" sz="1300" dirty="0">
                <a:solidFill>
                  <a:schemeClr val="tx2"/>
                </a:solidFill>
              </a:rPr>
              <a:t> insights</a:t>
            </a:r>
            <a:endParaRPr lang="en-US" sz="13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TECHNICAL EXPERIENCE · WHAT I BUILT IN LOGICMONITOR</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One environment, two audiences</a:t>
            </a:r>
            <a:endParaRPr lang="en-US" sz="3200" dirty="0"/>
          </a:p>
        </p:txBody>
      </p:sp>
      <p:sp>
        <p:nvSpPr>
          <p:cNvPr id="5" name="EXECUTIVE VIEW · OUTCOMES AND RISK card"/>
          <p:cNvSpPr/>
          <p:nvPr/>
        </p:nvSpPr>
        <p:spPr>
          <a:xfrm>
            <a:off x="812902" y="2011680"/>
            <a:ext cx="5145786" cy="3246120"/>
          </a:xfrm>
          <a:prstGeom prst="roundRect">
            <a:avLst>
              <a:gd name="adj" fmla="val 3380"/>
            </a:avLst>
          </a:prstGeom>
          <a:solidFill>
            <a:schemeClr val="tx1"/>
          </a:solidFill>
          <a:ln/>
        </p:spPr>
      </p:sp>
      <p:sp>
        <p:nvSpPr>
          <p:cNvPr id="6" name="EXECUTIVE VIEW · OUTCOMES AND RISK"/>
          <p:cNvSpPr txBox="1"/>
          <p:nvPr/>
        </p:nvSpPr>
        <p:spPr>
          <a:xfrm>
            <a:off x="1105510" y="2267712"/>
            <a:ext cx="4560570" cy="237744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1"/>
                </a:solidFill>
              </a:rPr>
              <a:t>EXECUTIVE VIEW · OUTCOMES AND RISK</a:t>
            </a:r>
            <a:endParaRPr lang="en-US" sz="1200" dirty="0"/>
          </a:p>
          <a:p>
            <a:pPr indent="0" marL="0">
              <a:spcAft>
                <a:spcPts val="1000"/>
              </a:spcAft>
              <a:buNone/>
            </a:pPr>
            <a:r>
              <a:rPr lang="en-US" sz="1800" b="1" dirty="0">
                <a:solidFill>
                  <a:schemeClr val="bg1"/>
                </a:solidFill>
              </a:rPr>
              <a:t>Can customers report outages, and how long are they waiting?</a:t>
            </a:r>
            <a:endParaRPr lang="en-US" sz="1200" dirty="0"/>
          </a:p>
          <a:p>
            <a:pPr marL="177800" indent="-177800">
              <a:spcAft>
                <a:spcPts val="600"/>
              </a:spcAft>
              <a:buSzPct val="100000"/>
              <a:buChar char="•"/>
            </a:pPr>
            <a:r>
              <a:rPr lang="en-US" sz="1400" dirty="0">
                <a:solidFill>
                  <a:schemeClr val="accent4"/>
                </a:solidFill>
              </a:rPr>
              <a:t>Customer journey available from 5 locations worldwide</a:t>
            </a:r>
            <a:endParaRPr lang="en-US" sz="1200" dirty="0"/>
          </a:p>
          <a:p>
            <a:pPr marL="177800" indent="-177800">
              <a:spcAft>
                <a:spcPts val="600"/>
              </a:spcAft>
              <a:buSzPct val="100000"/>
              <a:buChar char="•"/>
            </a:pPr>
            <a:r>
              <a:rPr lang="en-US" sz="1400" dirty="0">
                <a:solidFill>
                  <a:schemeClr val="accent4"/>
                </a:solidFill>
              </a:rPr>
              <a:t>Customers without power and open outages</a:t>
            </a:r>
            <a:endParaRPr lang="en-US" sz="1200" dirty="0"/>
          </a:p>
          <a:p>
            <a:pPr marL="177800" indent="-177800">
              <a:spcAft>
                <a:spcPts val="600"/>
              </a:spcAft>
              <a:buSzPct val="100000"/>
              <a:buChar char="•"/>
            </a:pPr>
            <a:r>
              <a:rPr lang="en-US" sz="1400" dirty="0">
                <a:solidFill>
                  <a:schemeClr val="accent4"/>
                </a:solidFill>
              </a:rPr>
              <a:t>Customers waiting for an estimate: the storm risk</a:t>
            </a:r>
            <a:endParaRPr lang="en-US" sz="1200" dirty="0"/>
          </a:p>
          <a:p>
            <a:pPr marL="177800" indent="-177800">
              <a:spcAft>
                <a:spcPts val="600"/>
              </a:spcAft>
              <a:buSzPct val="100000"/>
              <a:buChar char="•"/>
            </a:pPr>
            <a:r>
              <a:rPr lang="en-US" sz="1400" dirty="0">
                <a:solidFill>
                  <a:schemeClr val="accent4"/>
                </a:solidFill>
              </a:rPr>
              <a:t>Active alerts by severity</a:t>
            </a:r>
            <a:endParaRPr lang="en-US" sz="1200" dirty="0"/>
          </a:p>
        </p:txBody>
      </p:sp>
      <p:sp>
        <p:nvSpPr>
          <p:cNvPr id="7" name="EXECUTIVE VIEW · OUTCOMES AND RISK dashboard"/>
          <p:cNvSpPr txBox="1"/>
          <p:nvPr/>
        </p:nvSpPr>
        <p:spPr>
          <a:xfrm>
            <a:off x="1105510" y="4709160"/>
            <a:ext cx="4560570" cy="365760"/>
          </a:xfrm>
          <a:prstGeom prst="rect">
            <a:avLst/>
          </a:prstGeom>
          <a:noFill/>
          <a:ln/>
        </p:spPr>
        <p:txBody>
          <a:bodyPr wrap="square" lIns="0" tIns="0" rIns="0" bIns="0" rtlCol="0" anchor="b"/>
          <a:lstStyle/>
          <a:p>
            <a:pPr indent="0" marL="0">
              <a:buNone/>
            </a:pPr>
            <a:r>
              <a:rPr lang="en-US" sz="1300" dirty="0">
                <a:solidFill>
                  <a:schemeClr val="accent1"/>
                </a:solidFill>
              </a:rPr>
              <a:t>Live dashboard: Outage Reporter · Executive</a:t>
            </a:r>
            <a:endParaRPr lang="en-US" sz="1300" dirty="0"/>
          </a:p>
        </p:txBody>
      </p:sp>
      <p:sp>
        <p:nvSpPr>
          <p:cNvPr id="8" name="ENGINEER VIEW · OPERATIONS card"/>
          <p:cNvSpPr/>
          <p:nvPr/>
        </p:nvSpPr>
        <p:spPr>
          <a:xfrm>
            <a:off x="6233008" y="2011680"/>
            <a:ext cx="5145786" cy="3246120"/>
          </a:xfrm>
          <a:prstGeom prst="roundRect">
            <a:avLst>
              <a:gd name="adj" fmla="val 3380"/>
            </a:avLst>
          </a:prstGeom>
          <a:solidFill>
            <a:schemeClr val="bg1"/>
          </a:solidFill>
          <a:ln w="9525">
            <a:solidFill>
              <a:schemeClr val="accent5">
                <a:alpha val="35000"/>
              </a:schemeClr>
            </a:solidFill>
            <a:prstDash val="solid"/>
          </a:ln>
        </p:spPr>
      </p:sp>
      <p:sp>
        <p:nvSpPr>
          <p:cNvPr id="9" name="ENGINEER VIEW · OPERATIONS"/>
          <p:cNvSpPr txBox="1"/>
          <p:nvPr/>
        </p:nvSpPr>
        <p:spPr>
          <a:xfrm>
            <a:off x="6525616" y="2267712"/>
            <a:ext cx="4560570" cy="237744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2"/>
                </a:solidFill>
              </a:rPr>
              <a:t>ENGINEER VIEW · OPERATIONS</a:t>
            </a:r>
            <a:endParaRPr lang="en-US" sz="1200" dirty="0"/>
          </a:p>
          <a:p>
            <a:pPr indent="0" marL="0">
              <a:spcAft>
                <a:spcPts val="1000"/>
              </a:spcAft>
              <a:buNone/>
            </a:pPr>
            <a:r>
              <a:rPr lang="en-US" sz="1800" b="1" dirty="0">
                <a:solidFill>
                  <a:schemeClr val="tx1"/>
                </a:solidFill>
              </a:rPr>
              <a:t>What is broken, where, and who has the ticket?</a:t>
            </a:r>
            <a:endParaRPr lang="en-US" sz="1200" dirty="0"/>
          </a:p>
          <a:p>
            <a:pPr marL="177800" indent="-177800">
              <a:spcAft>
                <a:spcPts val="600"/>
              </a:spcAft>
              <a:buSzPct val="100000"/>
              <a:buChar char="•"/>
            </a:pPr>
            <a:r>
              <a:rPr lang="en-US" sz="1400" dirty="0">
                <a:solidFill>
                  <a:schemeClr val="tx2"/>
                </a:solidFill>
              </a:rPr>
              <a:t>Latency, error rate and data-store health</a:t>
            </a:r>
            <a:endParaRPr lang="en-US" sz="1200" dirty="0"/>
          </a:p>
          <a:p>
            <a:pPr marL="177800" indent="-177800">
              <a:spcAft>
                <a:spcPts val="600"/>
              </a:spcAft>
              <a:buSzPct val="100000"/>
              <a:buChar char="•"/>
            </a:pPr>
            <a:r>
              <a:rPr lang="en-US" sz="1400" dirty="0">
                <a:solidFill>
                  <a:schemeClr val="tx2"/>
                </a:solidFill>
              </a:rPr>
              <a:t>JVM heap and GC, CPU, memory, disk</a:t>
            </a:r>
            <a:endParaRPr lang="en-US" sz="1200" dirty="0"/>
          </a:p>
          <a:p>
            <a:pPr marL="177800" indent="-177800">
              <a:spcAft>
                <a:spcPts val="600"/>
              </a:spcAft>
              <a:buSzPct val="100000"/>
              <a:buChar char="•"/>
            </a:pPr>
            <a:r>
              <a:rPr lang="en-US" sz="1400" dirty="0">
                <a:solidFill>
                  <a:schemeClr val="tx2"/>
                </a:solidFill>
              </a:rPr>
              <a:t>App logs on the same resource as the metrics</a:t>
            </a:r>
            <a:endParaRPr lang="en-US" sz="1200" dirty="0"/>
          </a:p>
          <a:p>
            <a:pPr marL="177800" indent="-177800">
              <a:spcAft>
                <a:spcPts val="600"/>
              </a:spcAft>
              <a:buSzPct val="100000"/>
              <a:buChar char="•"/>
            </a:pPr>
            <a:r>
              <a:rPr lang="en-US" sz="1400" dirty="0">
                <a:solidFill>
                  <a:schemeClr val="tx2"/>
                </a:solidFill>
              </a:rPr>
              <a:t>Alerts routed to on-call, one per cause</a:t>
            </a:r>
            <a:endParaRPr lang="en-US" sz="1200" dirty="0"/>
          </a:p>
        </p:txBody>
      </p:sp>
      <p:sp>
        <p:nvSpPr>
          <p:cNvPr id="10" name="ENGINEER VIEW · OPERATIONS dashboard"/>
          <p:cNvSpPr txBox="1"/>
          <p:nvPr/>
        </p:nvSpPr>
        <p:spPr>
          <a:xfrm>
            <a:off x="6525616" y="4709160"/>
            <a:ext cx="4560570" cy="365760"/>
          </a:xfrm>
          <a:prstGeom prst="rect">
            <a:avLst/>
          </a:prstGeom>
          <a:noFill/>
          <a:ln/>
        </p:spPr>
        <p:txBody>
          <a:bodyPr wrap="square" lIns="0" tIns="0" rIns="0" bIns="0" rtlCol="0" anchor="b"/>
          <a:lstStyle/>
          <a:p>
            <a:pPr indent="0" marL="0">
              <a:buNone/>
            </a:pPr>
            <a:r>
              <a:rPr lang="en-US" sz="1300" dirty="0">
                <a:solidFill>
                  <a:schemeClr val="accent2"/>
                </a:solidFill>
              </a:rPr>
              <a:t>Live dashboard: Outage Reporter · Engineer</a:t>
            </a:r>
            <a:endParaRPr lang="en-US" sz="1300" dirty="0"/>
          </a:p>
        </p:txBody>
      </p:sp>
      <p:sp>
        <p:nvSpPr>
          <p:cNvPr id="11" name="Build strip"/>
          <p:cNvSpPr/>
          <p:nvPr/>
        </p:nvSpPr>
        <p:spPr>
          <a:xfrm>
            <a:off x="812902" y="5486400"/>
            <a:ext cx="10565892" cy="658368"/>
          </a:xfrm>
          <a:prstGeom prst="roundRect">
            <a:avLst>
              <a:gd name="adj" fmla="val 16667"/>
            </a:avLst>
          </a:prstGeom>
          <a:solidFill>
            <a:schemeClr val="bg1"/>
          </a:solidFill>
          <a:ln w="9525">
            <a:solidFill>
              <a:schemeClr val="accent5">
                <a:alpha val="35000"/>
              </a:schemeClr>
            </a:solidFill>
            <a:prstDash val="solid"/>
          </a:ln>
        </p:spPr>
      </p:sp>
      <p:sp>
        <p:nvSpPr>
          <p:cNvPr id="12" name="Build strip label"/>
          <p:cNvSpPr txBox="1"/>
          <p:nvPr/>
        </p:nvSpPr>
        <p:spPr>
          <a:xfrm>
            <a:off x="1087222" y="5486400"/>
            <a:ext cx="3566160" cy="658368"/>
          </a:xfrm>
          <a:prstGeom prst="rect">
            <a:avLst/>
          </a:prstGeom>
          <a:noFill/>
          <a:ln/>
        </p:spPr>
        <p:txBody>
          <a:bodyPr wrap="square" lIns="0" tIns="0" rIns="0" bIns="0" rtlCol="0" anchor="ctr"/>
          <a:lstStyle/>
          <a:p>
            <a:pPr indent="0" marL="0">
              <a:buNone/>
            </a:pPr>
            <a:r>
              <a:rPr lang="en-US" sz="1200" b="1" spc="200" kern="0" dirty="0">
                <a:solidFill>
                  <a:schemeClr val="accent2"/>
                </a:solidFill>
              </a:rPr>
              <a:t>BUILT FROM A BLANK AWS ACCOUNT</a:t>
            </a:r>
            <a:endParaRPr lang="en-US" sz="1200" dirty="0"/>
          </a:p>
        </p:txBody>
      </p:sp>
      <p:sp>
        <p:nvSpPr>
          <p:cNvPr id="13" name="Build strip"/>
          <p:cNvSpPr txBox="1"/>
          <p:nvPr/>
        </p:nvSpPr>
        <p:spPr>
          <a:xfrm>
            <a:off x="4744822" y="5486400"/>
            <a:ext cx="6359652" cy="658368"/>
          </a:xfrm>
          <a:prstGeom prst="rect">
            <a:avLst/>
          </a:prstGeom>
          <a:noFill/>
          <a:ln/>
        </p:spPr>
        <p:txBody>
          <a:bodyPr wrap="square" lIns="0" tIns="0" rIns="0" bIns="0" rtlCol="0" anchor="ctr"/>
          <a:lstStyle/>
          <a:p>
            <a:pPr indent="0" marL="0">
              <a:buNone/>
            </a:pPr>
            <a:r>
              <a:rPr lang="en-US" sz="1300" dirty="0">
                <a:solidFill>
                  <a:schemeClr val="tx2"/>
                </a:solidFill>
              </a:rPr>
              <a:t>Deployed from code · Collector and read-only AWS role · SNMP, JMX and a Groovy DataSource · web check from 5 locations · LM Logs · alert routing</a:t>
            </a:r>
            <a:endParaRPr lang="en-US" sz="13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WHY I'M A STRONG HIRE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bg1"/>
                </a:solidFill>
              </a:rPr>
              <a:t>I've done every part of this role</a:t>
            </a:r>
            <a:endParaRPr lang="en-US" sz="3200" dirty="0"/>
          </a:p>
        </p:txBody>
      </p:sp>
      <p:sp>
        <p:nvSpPr>
          <p:cNvPr id="5" name="Customer outcomes tile"/>
          <p:cNvSpPr/>
          <p:nvPr/>
        </p:nvSpPr>
        <p:spPr>
          <a:xfrm>
            <a:off x="812902" y="2011680"/>
            <a:ext cx="3383280" cy="1005840"/>
          </a:xfrm>
          <a:prstGeom prst="roundRect">
            <a:avLst>
              <a:gd name="adj" fmla="val 9091"/>
            </a:avLst>
          </a:prstGeom>
          <a:solidFill>
            <a:schemeClr val="accent6"/>
          </a:solidFill>
          <a:ln/>
        </p:spPr>
      </p:sp>
      <p:sp>
        <p:nvSpPr>
          <p:cNvPr id="6" name="Customer outcomes"/>
          <p:cNvSpPr txBox="1"/>
          <p:nvPr/>
        </p:nvSpPr>
        <p:spPr>
          <a:xfrm>
            <a:off x="995782" y="213969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Customer outcomes</a:t>
            </a:r>
            <a:endParaRPr lang="en-US" sz="1600" dirty="0"/>
          </a:p>
          <a:p>
            <a:pPr indent="0" marL="0">
              <a:buNone/>
            </a:pPr>
            <a:r>
              <a:rPr lang="en-US" sz="1200" dirty="0">
                <a:solidFill>
                  <a:schemeClr val="accent4"/>
                </a:solidFill>
              </a:rPr>
              <a:t>Adoption, renewal and expansion: $40M+ annual technical wins</a:t>
            </a:r>
            <a:endParaRPr lang="en-US" sz="1600" dirty="0"/>
          </a:p>
        </p:txBody>
      </p:sp>
      <p:sp>
        <p:nvSpPr>
          <p:cNvPr id="7" name="Observability depth tile"/>
          <p:cNvSpPr/>
          <p:nvPr/>
        </p:nvSpPr>
        <p:spPr>
          <a:xfrm>
            <a:off x="812902" y="3200400"/>
            <a:ext cx="3383280" cy="1005840"/>
          </a:xfrm>
          <a:prstGeom prst="roundRect">
            <a:avLst>
              <a:gd name="adj" fmla="val 9091"/>
            </a:avLst>
          </a:prstGeom>
          <a:solidFill>
            <a:schemeClr val="accent6"/>
          </a:solidFill>
          <a:ln/>
        </p:spPr>
      </p:sp>
      <p:sp>
        <p:nvSpPr>
          <p:cNvPr id="8" name="Observability depth"/>
          <p:cNvSpPr txBox="1"/>
          <p:nvPr/>
        </p:nvSpPr>
        <p:spPr>
          <a:xfrm>
            <a:off x="995782" y="332841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Observability depth</a:t>
            </a:r>
            <a:endParaRPr lang="en-US" sz="1600" dirty="0"/>
          </a:p>
          <a:p>
            <a:pPr indent="0" marL="0">
              <a:buNone/>
            </a:pPr>
            <a:r>
              <a:rPr lang="en-US" sz="1200" dirty="0">
                <a:solidFill>
                  <a:schemeClr val="accent4"/>
                </a:solidFill>
              </a:rPr>
              <a:t>I know the estates LogicMonitor replaces: 35% lower MTTR</a:t>
            </a:r>
            <a:endParaRPr lang="en-US" sz="1600" dirty="0"/>
          </a:p>
        </p:txBody>
      </p:sp>
      <p:sp>
        <p:nvSpPr>
          <p:cNvPr id="9" name="Agentic AI builder tile"/>
          <p:cNvSpPr/>
          <p:nvPr/>
        </p:nvSpPr>
        <p:spPr>
          <a:xfrm>
            <a:off x="812902" y="4389120"/>
            <a:ext cx="3383280" cy="1005840"/>
          </a:xfrm>
          <a:prstGeom prst="roundRect">
            <a:avLst>
              <a:gd name="adj" fmla="val 9091"/>
            </a:avLst>
          </a:prstGeom>
          <a:solidFill>
            <a:schemeClr val="accent6"/>
          </a:solidFill>
          <a:ln/>
        </p:spPr>
      </p:sp>
      <p:sp>
        <p:nvSpPr>
          <p:cNvPr id="10" name="Agentic AI builder"/>
          <p:cNvSpPr txBox="1"/>
          <p:nvPr/>
        </p:nvSpPr>
        <p:spPr>
          <a:xfrm>
            <a:off x="995782" y="451713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Agentic AI builder</a:t>
            </a:r>
            <a:endParaRPr lang="en-US" sz="1600" dirty="0"/>
          </a:p>
          <a:p>
            <a:pPr indent="0" marL="0">
              <a:buNone/>
            </a:pPr>
            <a:r>
              <a:rPr lang="en-US" sz="1200" dirty="0">
                <a:solidFill>
                  <a:schemeClr val="accent4"/>
                </a:solidFill>
              </a:rPr>
              <a:t>Ready to make Edwin AI real: 88% less alarm noise</a:t>
            </a:r>
            <a:endParaRPr lang="en-US" sz="1600" dirty="0"/>
          </a:p>
        </p:txBody>
      </p:sp>
      <p:sp>
        <p:nvSpPr>
          <p:cNvPr id="11" name="Role label"/>
          <p:cNvSpPr txBox="1"/>
          <p:nvPr/>
        </p:nvSpPr>
        <p:spPr>
          <a:xfrm>
            <a:off x="4561942" y="2011680"/>
            <a:ext cx="681685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ROLE, AS POSTED · WHERE I'VE DONE IT</a:t>
            </a:r>
            <a:endParaRPr lang="en-US" sz="1200" dirty="0"/>
          </a:p>
        </p:txBody>
      </p:sp>
      <p:graphicFrame>
        <p:nvGraphicFramePr>
          <p:cNvPr id="7" name="Role table"/>
          <p:cNvGraphicFramePr>
            <a:graphicFrameLocks noGrp="1"/>
          </p:cNvGraphicFramePr>
          <p:nvPr>
            <p:extLst>
              <p:ext uri="{D42A27DB-BD31-4B8C-83A1-F6EECF244321}">
                <p14:modId xmlns:p14="http://schemas.microsoft.com/office/powerpoint/2010/main" val="1579011935"/>
              </p:ext>
            </p:extLst>
          </p:nvPr>
        </p:nvGraphicFramePr>
        <p:xfrm>
          <a:off x="4561942" y="2377440"/>
          <a:ext cx="6816852" cy="914400"/>
        </p:xfrm>
        <a:graphic>
          <a:graphicData uri="http://schemas.openxmlformats.org/drawingml/2006/table">
            <a:tbl>
              <a:tblPr/>
              <a:tblGrid>
                <a:gridCol w="2590404"/>
                <a:gridCol w="4226448"/>
              </a:tblGrid>
              <a:tr h="329184">
                <a:tc>
                  <a:txBody>
                    <a:bodyPr/>
                    <a:lstStyle/>
                    <a:p>
                      <a:pPr indent="0" marL="0">
                        <a:buNone/>
                      </a:pPr>
                      <a:r>
                        <a:rPr lang="en-US" sz="1200" b="1" dirty="0">
                          <a:solidFill>
                            <a:schemeClr val="accent4"/>
                          </a:solidFill>
                        </a:rPr>
                        <a:t>Responsibility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b="1" dirty="0">
                          <a:solidFill>
                            <a:schemeClr val="accent4"/>
                          </a:solidFill>
                        </a:rPr>
                        <a:t>Proof</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Customer engagement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Primary technical contact, Fortune 500</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Technical strategy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Business targets agreed before design</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Solution design</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VMware, Windows, Linux, SQL, K8s, AWS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Technical advisory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Migrations off UIM, DX and Dynatrace</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POCs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PoC-led wins with written success criteria</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Troubleshooting</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APM, infrastructure and network RCA</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Training</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Workshops; global developer program</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Feedback to product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Field input to Scout AI strategy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Presentations, demos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This deck, and the live demo next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30-60-90 DAYS</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Learn, then contribute, then lead</a:t>
            </a:r>
            <a:endParaRPr lang="en-US" sz="3200" dirty="0"/>
          </a:p>
        </p:txBody>
      </p:sp>
      <p:sp>
        <p:nvSpPr>
          <p:cNvPr id="5" name="Learn card"/>
          <p:cNvSpPr/>
          <p:nvPr/>
        </p:nvSpPr>
        <p:spPr>
          <a:xfrm>
            <a:off x="812902" y="2011680"/>
            <a:ext cx="3339084" cy="3931920"/>
          </a:xfrm>
          <a:prstGeom prst="roundRect">
            <a:avLst>
              <a:gd name="adj" fmla="val 3286"/>
            </a:avLst>
          </a:prstGeom>
          <a:solidFill>
            <a:schemeClr val="bg1"/>
          </a:solidFill>
          <a:ln w="9525">
            <a:solidFill>
              <a:schemeClr val="accent5">
                <a:alpha val="35000"/>
              </a:schemeClr>
            </a:solidFill>
            <a:prstDash val="solid"/>
          </a:ln>
        </p:spPr>
      </p:sp>
      <p:sp>
        <p:nvSpPr>
          <p:cNvPr id="6" name="Learn"/>
          <p:cNvSpPr txBox="1"/>
          <p:nvPr/>
        </p:nvSpPr>
        <p:spPr>
          <a:xfrm>
            <a:off x="1068934"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2"/>
                </a:solidFill>
              </a:rPr>
              <a:t>DAYS 1–30</a:t>
            </a:r>
            <a:endParaRPr lang="en-US" sz="1200" dirty="0"/>
          </a:p>
          <a:p>
            <a:pPr indent="0" marL="0">
              <a:spcAft>
                <a:spcPts val="800"/>
              </a:spcAft>
              <a:buNone/>
            </a:pPr>
            <a:r>
              <a:rPr lang="en-US" sz="2000" b="1" dirty="0">
                <a:solidFill>
                  <a:schemeClr val="tx1"/>
                </a:solidFill>
              </a:rPr>
              <a:t>Learn</a:t>
            </a:r>
            <a:endParaRPr lang="en-US" sz="1200" dirty="0"/>
          </a:p>
          <a:p>
            <a:pPr marL="177800" indent="-177800">
              <a:spcAft>
                <a:spcPts val="500"/>
              </a:spcAft>
              <a:buSzPct val="100000"/>
              <a:buChar char="•"/>
            </a:pPr>
            <a:r>
              <a:rPr lang="en-US" sz="1300" dirty="0">
                <a:solidFill>
                  <a:schemeClr val="tx2"/>
                </a:solidFill>
              </a:rPr>
              <a:t>LogicMonitor certifications and Edwin AI training</a:t>
            </a:r>
            <a:endParaRPr lang="en-US" sz="1200" dirty="0"/>
          </a:p>
          <a:p>
            <a:pPr marL="177800" indent="-177800">
              <a:spcAft>
                <a:spcPts val="500"/>
              </a:spcAft>
              <a:buSzPct val="100000"/>
              <a:buChar char="•"/>
            </a:pPr>
            <a:r>
              <a:rPr lang="en-US" sz="1300" dirty="0">
                <a:solidFill>
                  <a:schemeClr val="tx2"/>
                </a:solidFill>
              </a:rPr>
              <a:t>Shadow senior CTAs on customer calls</a:t>
            </a:r>
            <a:endParaRPr lang="en-US" sz="1200" dirty="0"/>
          </a:p>
          <a:p>
            <a:pPr marL="177800" indent="-177800">
              <a:spcAft>
                <a:spcPts val="500"/>
              </a:spcAft>
              <a:buSzPct val="100000"/>
              <a:buChar char="•"/>
            </a:pPr>
            <a:r>
              <a:rPr lang="en-US" sz="1300" dirty="0">
                <a:solidFill>
                  <a:schemeClr val="tx2"/>
                </a:solidFill>
              </a:rPr>
              <a:t>Meet every assigned account; baseline health and KPIs</a:t>
            </a:r>
            <a:endParaRPr lang="en-US" sz="1200" dirty="0"/>
          </a:p>
          <a:p>
            <a:pPr marL="177800" indent="-177800">
              <a:spcAft>
                <a:spcPts val="500"/>
              </a:spcAft>
              <a:buSzPct val="100000"/>
              <a:buChar char="•"/>
            </a:pPr>
            <a:r>
              <a:rPr lang="en-US" sz="1300" dirty="0">
                <a:solidFill>
                  <a:schemeClr val="tx2"/>
                </a:solidFill>
              </a:rPr>
              <a:t>Learn the field playbooks and the PDE roadmap</a:t>
            </a:r>
            <a:endParaRPr lang="en-US" sz="1200" dirty="0"/>
          </a:p>
        </p:txBody>
      </p:sp>
      <p:sp>
        <p:nvSpPr>
          <p:cNvPr id="7" name="Learn measure"/>
          <p:cNvSpPr txBox="1"/>
          <p:nvPr/>
        </p:nvSpPr>
        <p:spPr>
          <a:xfrm>
            <a:off x="1068934" y="5230368"/>
            <a:ext cx="2827020" cy="502920"/>
          </a:xfrm>
          <a:prstGeom prst="rect">
            <a:avLst/>
          </a:prstGeom>
          <a:noFill/>
          <a:ln/>
        </p:spPr>
        <p:txBody>
          <a:bodyPr wrap="square" lIns="0" tIns="0" rIns="0" bIns="0" rtlCol="0" anchor="b"/>
          <a:lstStyle/>
          <a:p>
            <a:pPr indent="0" marL="0">
              <a:buNone/>
            </a:pPr>
            <a:r>
              <a:rPr lang="en-US" sz="1200" b="1" dirty="0">
                <a:solidFill>
                  <a:schemeClr val="tx1"/>
                </a:solidFill>
              </a:rPr>
              <a:t>Measured by: </a:t>
            </a:r>
            <a:pPr indent="0" marL="0">
              <a:buNone/>
            </a:pPr>
            <a:r>
              <a:rPr lang="en-US" sz="1200" dirty="0">
                <a:solidFill>
                  <a:schemeClr val="tx1"/>
                </a:solidFill>
              </a:rPr>
              <a:t>every account baselined</a:t>
            </a:r>
            <a:endParaRPr lang="en-US" sz="1200" dirty="0"/>
          </a:p>
        </p:txBody>
      </p:sp>
      <p:sp>
        <p:nvSpPr>
          <p:cNvPr id="8" name="Contribute card"/>
          <p:cNvSpPr/>
          <p:nvPr/>
        </p:nvSpPr>
        <p:spPr>
          <a:xfrm>
            <a:off x="4426306" y="2011680"/>
            <a:ext cx="3339084" cy="3931920"/>
          </a:xfrm>
          <a:prstGeom prst="roundRect">
            <a:avLst>
              <a:gd name="adj" fmla="val 3286"/>
            </a:avLst>
          </a:prstGeom>
          <a:solidFill>
            <a:schemeClr val="bg1"/>
          </a:solidFill>
          <a:ln w="9525">
            <a:solidFill>
              <a:schemeClr val="accent5">
                <a:alpha val="35000"/>
              </a:schemeClr>
            </a:solidFill>
            <a:prstDash val="solid"/>
          </a:ln>
        </p:spPr>
      </p:sp>
      <p:sp>
        <p:nvSpPr>
          <p:cNvPr id="9" name="Contribute"/>
          <p:cNvSpPr txBox="1"/>
          <p:nvPr/>
        </p:nvSpPr>
        <p:spPr>
          <a:xfrm>
            <a:off x="4682338"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2"/>
                </a:solidFill>
              </a:rPr>
              <a:t>DAYS 31–60</a:t>
            </a:r>
            <a:endParaRPr lang="en-US" sz="1200" dirty="0"/>
          </a:p>
          <a:p>
            <a:pPr indent="0" marL="0">
              <a:spcAft>
                <a:spcPts val="800"/>
              </a:spcAft>
              <a:buNone/>
            </a:pPr>
            <a:r>
              <a:rPr lang="en-US" sz="2000" b="1" dirty="0">
                <a:solidFill>
                  <a:schemeClr val="tx1"/>
                </a:solidFill>
              </a:rPr>
              <a:t>Contribute</a:t>
            </a:r>
            <a:endParaRPr lang="en-US" sz="1200" dirty="0"/>
          </a:p>
          <a:p>
            <a:pPr marL="177800" indent="-177800">
              <a:spcAft>
                <a:spcPts val="500"/>
              </a:spcAft>
              <a:buSzPct val="100000"/>
              <a:buChar char="•"/>
            </a:pPr>
            <a:r>
              <a:rPr lang="en-US" sz="1300" dirty="0">
                <a:solidFill>
                  <a:schemeClr val="tx2"/>
                </a:solidFill>
              </a:rPr>
              <a:t>Own day-to-day technical relationships</a:t>
            </a:r>
            <a:endParaRPr lang="en-US" sz="1200" dirty="0"/>
          </a:p>
          <a:p>
            <a:pPr marL="177800" indent="-177800">
              <a:spcAft>
                <a:spcPts val="500"/>
              </a:spcAft>
              <a:buSzPct val="100000"/>
              <a:buChar char="•"/>
            </a:pPr>
            <a:r>
              <a:rPr lang="en-US" sz="1300" dirty="0">
                <a:solidFill>
                  <a:schemeClr val="tx2"/>
                </a:solidFill>
              </a:rPr>
              <a:t>Agree a success plan with KPIs per account</a:t>
            </a:r>
            <a:endParaRPr lang="en-US" sz="1200" dirty="0"/>
          </a:p>
          <a:p>
            <a:pPr marL="177800" indent="-177800">
              <a:spcAft>
                <a:spcPts val="500"/>
              </a:spcAft>
              <a:buSzPct val="100000"/>
              <a:buChar char="•"/>
            </a:pPr>
            <a:r>
              <a:rPr lang="en-US" sz="1300" dirty="0">
                <a:solidFill>
                  <a:schemeClr val="tx2"/>
                </a:solidFill>
              </a:rPr>
              <a:t>Quick wins: critical services covered, noise tuned</a:t>
            </a:r>
            <a:endParaRPr lang="en-US" sz="1200" dirty="0"/>
          </a:p>
          <a:p>
            <a:pPr marL="177800" indent="-177800">
              <a:spcAft>
                <a:spcPts val="500"/>
              </a:spcAft>
              <a:buSzPct val="100000"/>
              <a:buChar char="•"/>
            </a:pPr>
            <a:r>
              <a:rPr lang="en-US" sz="1300" dirty="0">
                <a:solidFill>
                  <a:schemeClr val="tx2"/>
                </a:solidFill>
              </a:rPr>
              <a:t>Run a first best-practices workshop</a:t>
            </a:r>
            <a:endParaRPr lang="en-US" sz="1200" dirty="0"/>
          </a:p>
        </p:txBody>
      </p:sp>
      <p:sp>
        <p:nvSpPr>
          <p:cNvPr id="10" name="Contribute measure"/>
          <p:cNvSpPr txBox="1"/>
          <p:nvPr/>
        </p:nvSpPr>
        <p:spPr>
          <a:xfrm>
            <a:off x="4682338" y="5230368"/>
            <a:ext cx="2827020" cy="502920"/>
          </a:xfrm>
          <a:prstGeom prst="rect">
            <a:avLst/>
          </a:prstGeom>
          <a:noFill/>
          <a:ln/>
        </p:spPr>
        <p:txBody>
          <a:bodyPr wrap="square" lIns="0" tIns="0" rIns="0" bIns="0" rtlCol="0" anchor="b"/>
          <a:lstStyle/>
          <a:p>
            <a:pPr indent="0" marL="0">
              <a:buNone/>
            </a:pPr>
            <a:r>
              <a:rPr lang="en-US" sz="1200" b="1" dirty="0">
                <a:solidFill>
                  <a:schemeClr val="tx1"/>
                </a:solidFill>
              </a:rPr>
              <a:t>Measured by: </a:t>
            </a:r>
            <a:pPr indent="0" marL="0">
              <a:buNone/>
            </a:pPr>
            <a:r>
              <a:rPr lang="en-US" sz="1200" dirty="0">
                <a:solidFill>
                  <a:schemeClr val="tx1"/>
                </a:solidFill>
              </a:rPr>
              <a:t>success plans signed off</a:t>
            </a:r>
            <a:endParaRPr lang="en-US" sz="1200" dirty="0"/>
          </a:p>
        </p:txBody>
      </p:sp>
      <p:sp>
        <p:nvSpPr>
          <p:cNvPr id="11" name="Lead card"/>
          <p:cNvSpPr/>
          <p:nvPr/>
        </p:nvSpPr>
        <p:spPr>
          <a:xfrm>
            <a:off x="8039710" y="2011680"/>
            <a:ext cx="3339084" cy="3931920"/>
          </a:xfrm>
          <a:prstGeom prst="roundRect">
            <a:avLst>
              <a:gd name="adj" fmla="val 3286"/>
            </a:avLst>
          </a:prstGeom>
          <a:solidFill>
            <a:schemeClr val="tx1"/>
          </a:solidFill>
          <a:ln/>
        </p:spPr>
      </p:sp>
      <p:sp>
        <p:nvSpPr>
          <p:cNvPr id="12" name="Lead"/>
          <p:cNvSpPr txBox="1"/>
          <p:nvPr/>
        </p:nvSpPr>
        <p:spPr>
          <a:xfrm>
            <a:off x="8295742"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1"/>
                </a:solidFill>
              </a:rPr>
              <a:t>DAYS 61–90</a:t>
            </a:r>
            <a:endParaRPr lang="en-US" sz="1200" dirty="0"/>
          </a:p>
          <a:p>
            <a:pPr indent="0" marL="0">
              <a:spcAft>
                <a:spcPts val="800"/>
              </a:spcAft>
              <a:buNone/>
            </a:pPr>
            <a:r>
              <a:rPr lang="en-US" sz="2000" b="1" dirty="0">
                <a:solidFill>
                  <a:schemeClr val="bg1"/>
                </a:solidFill>
              </a:rPr>
              <a:t>Lead</a:t>
            </a:r>
            <a:endParaRPr lang="en-US" sz="1200" dirty="0"/>
          </a:p>
          <a:p>
            <a:pPr marL="177800" indent="-177800">
              <a:spcAft>
                <a:spcPts val="500"/>
              </a:spcAft>
              <a:buSzPct val="100000"/>
              <a:buChar char="•"/>
            </a:pPr>
            <a:r>
              <a:rPr lang="en-US" sz="1300" dirty="0">
                <a:solidFill>
                  <a:schemeClr val="accent4"/>
                </a:solidFill>
              </a:rPr>
              <a:t>Value reviews with customer leadership</a:t>
            </a:r>
            <a:endParaRPr lang="en-US" sz="1200" dirty="0"/>
          </a:p>
          <a:p>
            <a:pPr marL="177800" indent="-177800">
              <a:spcAft>
                <a:spcPts val="500"/>
              </a:spcAft>
              <a:buSzPct val="100000"/>
              <a:buChar char="•"/>
            </a:pPr>
            <a:r>
              <a:rPr lang="en-US" sz="1300" dirty="0">
                <a:solidFill>
                  <a:schemeClr val="accent4"/>
                </a:solidFill>
              </a:rPr>
              <a:t>POCs of new features, starting with Edwin AI</a:t>
            </a:r>
            <a:endParaRPr lang="en-US" sz="1200" dirty="0"/>
          </a:p>
          <a:p>
            <a:pPr marL="177800" indent="-177800">
              <a:spcAft>
                <a:spcPts val="500"/>
              </a:spcAft>
              <a:buSzPct val="100000"/>
              <a:buChar char="•"/>
            </a:pPr>
            <a:r>
              <a:rPr lang="en-US" sz="1300" dirty="0">
                <a:solidFill>
                  <a:schemeClr val="accent4"/>
                </a:solidFill>
              </a:rPr>
              <a:t>Customer needs into the PDE roadmap</a:t>
            </a:r>
            <a:endParaRPr lang="en-US" sz="1200" dirty="0"/>
          </a:p>
          <a:p>
            <a:pPr marL="177800" indent="-177800">
              <a:spcAft>
                <a:spcPts val="500"/>
              </a:spcAft>
              <a:buSzPct val="100000"/>
              <a:buChar char="•"/>
            </a:pPr>
            <a:r>
              <a:rPr lang="en-US" sz="1300" dirty="0">
                <a:solidFill>
                  <a:schemeClr val="accent4"/>
                </a:solidFill>
              </a:rPr>
              <a:t>Share a DX/UIM migration playbook</a:t>
            </a:r>
            <a:endParaRPr lang="en-US" sz="1200" dirty="0"/>
          </a:p>
        </p:txBody>
      </p:sp>
      <p:sp>
        <p:nvSpPr>
          <p:cNvPr id="13" name="Lead measure"/>
          <p:cNvSpPr txBox="1"/>
          <p:nvPr/>
        </p:nvSpPr>
        <p:spPr>
          <a:xfrm>
            <a:off x="8295742" y="5230368"/>
            <a:ext cx="2827020" cy="502920"/>
          </a:xfrm>
          <a:prstGeom prst="rect">
            <a:avLst/>
          </a:prstGeom>
          <a:noFill/>
          <a:ln/>
        </p:spPr>
        <p:txBody>
          <a:bodyPr wrap="square" lIns="0" tIns="0" rIns="0" bIns="0" rtlCol="0" anchor="b"/>
          <a:lstStyle/>
          <a:p>
            <a:pPr indent="0" marL="0">
              <a:buNone/>
            </a:pPr>
            <a:r>
              <a:rPr lang="en-US" sz="1200" b="1" dirty="0">
                <a:solidFill>
                  <a:schemeClr val="bg1"/>
                </a:solidFill>
              </a:rPr>
              <a:t>Measured by: </a:t>
            </a:r>
            <a:pPr indent="0" marL="0">
              <a:buNone/>
            </a:pPr>
            <a:r>
              <a:rPr lang="en-US" sz="1200" dirty="0">
                <a:solidFill>
                  <a:schemeClr val="bg1"/>
                </a:solidFill>
              </a:rPr>
              <a:t>KPI movement and expansion pipeline</a:t>
            </a:r>
            <a:endParaRPr lang="en-US" sz="12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TA Navy">
  <a:themeElements>
    <a:clrScheme name="CTA Navy">
      <a:dk1>
        <a:srgbClr val="14233A"/>
      </a:dk1>
      <a:lt1>
        <a:srgbClr val="FCFBF8"/>
      </a:lt1>
      <a:dk2>
        <a:srgbClr val="46505E"/>
      </a:dk2>
      <a:lt2>
        <a:srgbClr val="F5F4EF"/>
      </a:lt2>
      <a:accent1>
        <a:srgbClr val="F08A3C"/>
      </a:accent1>
      <a:accent2>
        <a:srgbClr val="1F5BD6"/>
      </a:accent2>
      <a:accent3>
        <a:srgbClr val="B4530F"/>
      </a:accent3>
      <a:accent4>
        <a:srgbClr val="AEBBCB"/>
      </a:accent4>
      <a:accent5>
        <a:srgbClr val="6B7480"/>
      </a:accent5>
      <a:accent6>
        <a:srgbClr val="1E3150"/>
      </a:accent6>
      <a:hlink>
        <a:srgbClr val="1F5BD6"/>
      </a:hlink>
      <a:folHlink>
        <a:srgbClr val="6B7480"/>
      </a:folHlink>
    </a:clrScheme>
    <a:fontScheme name="CTA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Presentation – Dennis Katumalla</dc:title>
  <dc:subject>PptxGenJS Presentation</dc:subject>
  <dc:creator>Dennis Katumalla</dc:creator>
  <cp:lastModifiedBy>Dennis Katumalla</cp:lastModifiedBy>
  <cp:revision>1</cp:revision>
  <dcterms:created xsi:type="dcterms:W3CDTF">2026-10-12T20:10:06Z</dcterms:created>
  <dcterms:modified xsi:type="dcterms:W3CDTF">2026-10-12T20:10:06Z</dcterms:modified>
</cp:coreProperties>
</file>